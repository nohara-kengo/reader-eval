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2A_BBAD69A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1_0.xml" ContentType="application/vnd.ms-powerpoint.comments+xml"/>
  <Override PartName="/ppt/comments/modernComment_11E_740B4B30.xml" ContentType="application/vnd.ms-powerpoint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2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5"/>
  </p:notesMasterIdLst>
  <p:sldIdLst>
    <p:sldId id="256" r:id="rId2"/>
    <p:sldId id="298" r:id="rId3"/>
    <p:sldId id="294" r:id="rId4"/>
    <p:sldId id="258" r:id="rId5"/>
    <p:sldId id="285" r:id="rId6"/>
    <p:sldId id="300" r:id="rId7"/>
    <p:sldId id="288" r:id="rId8"/>
    <p:sldId id="291" r:id="rId9"/>
    <p:sldId id="299" r:id="rId10"/>
    <p:sldId id="296" r:id="rId11"/>
    <p:sldId id="297" r:id="rId12"/>
    <p:sldId id="265" r:id="rId13"/>
    <p:sldId id="439" r:id="rId14"/>
    <p:sldId id="271" r:id="rId15"/>
    <p:sldId id="267" r:id="rId16"/>
    <p:sldId id="266" r:id="rId17"/>
    <p:sldId id="268" r:id="rId18"/>
    <p:sldId id="438" r:id="rId19"/>
    <p:sldId id="257" r:id="rId20"/>
    <p:sldId id="286" r:id="rId21"/>
    <p:sldId id="273" r:id="rId22"/>
    <p:sldId id="295" r:id="rId23"/>
    <p:sldId id="287" r:id="rId24"/>
    <p:sldId id="279" r:id="rId25"/>
    <p:sldId id="277" r:id="rId26"/>
    <p:sldId id="278" r:id="rId27"/>
    <p:sldId id="289" r:id="rId28"/>
    <p:sldId id="282" r:id="rId29"/>
    <p:sldId id="274" r:id="rId30"/>
    <p:sldId id="276" r:id="rId31"/>
    <p:sldId id="290" r:id="rId32"/>
    <p:sldId id="292" r:id="rId33"/>
    <p:sldId id="293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98C8217-A8D7-B303-59A1-0CBC0657504B}" name="米坂 安代" initials="安米" userId="S::119801@comthink.co.jp::3d8b9fcf-93f2-4d9e-be79-e4dc27d7409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31" autoAdjust="0"/>
    <p:restoredTop sz="95587" autoAdjust="0"/>
  </p:normalViewPr>
  <p:slideViewPr>
    <p:cSldViewPr snapToGrid="0" snapToObjects="1">
      <p:cViewPr varScale="1">
        <p:scale>
          <a:sx n="89" d="100"/>
          <a:sy n="89" d="100"/>
        </p:scale>
        <p:origin x="163" y="29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19801\Desktop\&#20107;&#26989;&#35336;&#30011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19801\Downloads\&#36864;&#32887;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19801\Downloads\&#36864;&#32887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19801\Downloads\&#36864;&#32887;.xlsx" TargetMode="Externa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2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19801\Downloads\&#36864;&#32887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19801\Downloads\&#36864;&#32887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19801\Downloads\&#36864;&#32887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Sheet4!$C$3:$C$6</c:f>
              <c:strCache>
                <c:ptCount val="4"/>
                <c:pt idx="0">
                  <c:v>20代</c:v>
                </c:pt>
                <c:pt idx="1">
                  <c:v>30代</c:v>
                </c:pt>
                <c:pt idx="2">
                  <c:v>40代</c:v>
                </c:pt>
                <c:pt idx="3">
                  <c:v>50代</c:v>
                </c:pt>
              </c:strCache>
            </c:strRef>
          </c:cat>
          <c:val>
            <c:numRef>
              <c:f>Sheet4!$D$3:$D$6</c:f>
            </c:numRef>
          </c:val>
          <c:extLst>
            <c:ext xmlns:c16="http://schemas.microsoft.com/office/drawing/2014/chart" uri="{C3380CC4-5D6E-409C-BE32-E72D297353CC}">
              <c16:uniqueId val="{00000000-12FD-4F49-AA4E-73302DE194B9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Sheet4!$C$3:$C$6</c:f>
              <c:strCache>
                <c:ptCount val="4"/>
                <c:pt idx="0">
                  <c:v>20代</c:v>
                </c:pt>
                <c:pt idx="1">
                  <c:v>30代</c:v>
                </c:pt>
                <c:pt idx="2">
                  <c:v>40代</c:v>
                </c:pt>
                <c:pt idx="3">
                  <c:v>50代</c:v>
                </c:pt>
              </c:strCache>
            </c:strRef>
          </c:cat>
          <c:val>
            <c:numRef>
              <c:f>Sheet4!$E$3:$E$6</c:f>
              <c:numCache>
                <c:formatCode>0%</c:formatCode>
                <c:ptCount val="4"/>
                <c:pt idx="0">
                  <c:v>0.31147540983606559</c:v>
                </c:pt>
                <c:pt idx="1">
                  <c:v>0.26229508196721313</c:v>
                </c:pt>
                <c:pt idx="2">
                  <c:v>0.22950819672131148</c:v>
                </c:pt>
                <c:pt idx="3">
                  <c:v>0.19672131147540983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FD-4F49-AA4E-73302DE194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09653360"/>
        <c:axId val="1709649520"/>
      </c:barChart>
      <c:catAx>
        <c:axId val="1709653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709649520"/>
        <c:crosses val="autoZero"/>
        <c:auto val="1"/>
        <c:lblAlgn val="ctr"/>
        <c:lblOffset val="100"/>
        <c:noMultiLvlLbl val="0"/>
      </c:catAx>
      <c:valAx>
        <c:axId val="1709649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7096533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pPr>
            <a:r>
              <a:rPr lang="ja-JP" b="1"/>
              <a:t>退職理由別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+mn-cs"/>
            </a:defRPr>
          </a:pPr>
          <a:endParaRPr lang="ja-JP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Sheet2!$M$1</c:f>
              <c:strCache>
                <c:ptCount val="1"/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Sheet2!$L$2:$L$8</c:f>
              <c:strCache>
                <c:ptCount val="7"/>
                <c:pt idx="0">
                  <c:v>V40に非マッチ</c:v>
                </c:pt>
                <c:pt idx="1">
                  <c:v>退職勧奨・低評価</c:v>
                </c:pt>
                <c:pt idx="2">
                  <c:v>営業部解体の影響</c:v>
                </c:pt>
                <c:pt idx="3">
                  <c:v>疾病</c:v>
                </c:pt>
                <c:pt idx="4">
                  <c:v>年収Up転職</c:v>
                </c:pt>
                <c:pt idx="5">
                  <c:v>定年・介護</c:v>
                </c:pt>
                <c:pt idx="6">
                  <c:v>IT業界以外へ転職</c:v>
                </c:pt>
              </c:strCache>
            </c:strRef>
          </c:cat>
          <c:val>
            <c:numRef>
              <c:f>Sheet2!$M$2:$M$8</c:f>
              <c:numCache>
                <c:formatCode>General</c:formatCode>
                <c:ptCount val="7"/>
                <c:pt idx="0">
                  <c:v>11</c:v>
                </c:pt>
                <c:pt idx="1">
                  <c:v>12</c:v>
                </c:pt>
                <c:pt idx="2">
                  <c:v>2</c:v>
                </c:pt>
                <c:pt idx="3">
                  <c:v>9</c:v>
                </c:pt>
                <c:pt idx="4">
                  <c:v>0</c:v>
                </c:pt>
                <c:pt idx="5">
                  <c:v>4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A6-45CF-8F26-72C6A55D4A01}"/>
            </c:ext>
          </c:extLst>
        </c:ser>
        <c:ser>
          <c:idx val="1"/>
          <c:order val="1"/>
          <c:tx>
            <c:strRef>
              <c:f>Sheet2!$N$1</c:f>
              <c:strCache>
                <c:ptCount val="1"/>
                <c:pt idx="0">
                  <c:v>活躍期待層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Sheet2!$L$2:$L$8</c:f>
              <c:strCache>
                <c:ptCount val="7"/>
                <c:pt idx="0">
                  <c:v>V40に非マッチ</c:v>
                </c:pt>
                <c:pt idx="1">
                  <c:v>退職勧奨・低評価</c:v>
                </c:pt>
                <c:pt idx="2">
                  <c:v>営業部解体の影響</c:v>
                </c:pt>
                <c:pt idx="3">
                  <c:v>疾病</c:v>
                </c:pt>
                <c:pt idx="4">
                  <c:v>年収Up転職</c:v>
                </c:pt>
                <c:pt idx="5">
                  <c:v>定年・介護</c:v>
                </c:pt>
                <c:pt idx="6">
                  <c:v>IT業界以外へ転職</c:v>
                </c:pt>
              </c:strCache>
            </c:strRef>
          </c:cat>
          <c:val>
            <c:numRef>
              <c:f>Sheet2!$N$2:$N$8</c:f>
              <c:numCache>
                <c:formatCode>General</c:formatCode>
                <c:ptCount val="7"/>
                <c:pt idx="0">
                  <c:v>4</c:v>
                </c:pt>
                <c:pt idx="2">
                  <c:v>9</c:v>
                </c:pt>
                <c:pt idx="3">
                  <c:v>2</c:v>
                </c:pt>
                <c:pt idx="4">
                  <c:v>6</c:v>
                </c:pt>
                <c:pt idx="5">
                  <c:v>1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A6-45CF-8F26-72C6A55D4A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62873295"/>
        <c:axId val="1062874255"/>
      </c:barChart>
      <c:catAx>
        <c:axId val="1062873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pPr>
            <a:endParaRPr lang="ja-JP"/>
          </a:p>
        </c:txPr>
        <c:crossAx val="1062874255"/>
        <c:crosses val="autoZero"/>
        <c:auto val="1"/>
        <c:lblAlgn val="ctr"/>
        <c:lblOffset val="100"/>
        <c:noMultiLvlLbl val="0"/>
      </c:catAx>
      <c:valAx>
        <c:axId val="10628742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pPr>
            <a:endParaRPr lang="ja-JP"/>
          </a:p>
        </c:txPr>
        <c:crossAx val="10628732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ayout>
        <c:manualLayout>
          <c:xMode val="edge"/>
          <c:yMode val="edge"/>
          <c:x val="0.66605597101334502"/>
          <c:y val="4.7607451435010703E-2"/>
          <c:w val="0.3049566368037282"/>
          <c:h val="7.309484075540270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+mn-cs"/>
            </a:defRPr>
          </a:pPr>
          <a:endParaRPr lang="ja-JP"/>
        </a:p>
      </c:txPr>
    </c:legend>
    <c:plotVisOnly val="1"/>
    <c:dispBlanksAs val="gap"/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 sz="1600">
          <a:latin typeface="メイリオ" panose="020B0604030504040204" pitchFamily="50" charset="-128"/>
          <a:ea typeface="メイリオ" panose="020B0604030504040204" pitchFamily="50" charset="-128"/>
        </a:defRPr>
      </a:pPr>
      <a:endParaRPr lang="ja-JP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pPr>
            <a:r>
              <a:rPr lang="ja-JP" b="1"/>
              <a:t>退職時の年代別</a:t>
            </a:r>
          </a:p>
        </c:rich>
      </c:tx>
      <c:layout>
        <c:manualLayout>
          <c:xMode val="edge"/>
          <c:yMode val="edge"/>
          <c:x val="0.33786947614866841"/>
          <c:y val="2.762390881934978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+mn-cs"/>
            </a:defRPr>
          </a:pPr>
          <a:endParaRPr lang="ja-JP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Sheet2!$D$7</c:f>
              <c:strCache>
                <c:ptCount val="1"/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Sheet2!$C$8:$C$12</c:f>
              <c:strCache>
                <c:ptCount val="5"/>
                <c:pt idx="0">
                  <c:v>20代</c:v>
                </c:pt>
                <c:pt idx="1">
                  <c:v>30代</c:v>
                </c:pt>
                <c:pt idx="2">
                  <c:v>40代</c:v>
                </c:pt>
                <c:pt idx="3">
                  <c:v>50代</c:v>
                </c:pt>
                <c:pt idx="4">
                  <c:v>60代</c:v>
                </c:pt>
              </c:strCache>
            </c:strRef>
          </c:cat>
          <c:val>
            <c:numRef>
              <c:f>Sheet2!$D$8:$D$12</c:f>
              <c:numCache>
                <c:formatCode>General</c:formatCode>
                <c:ptCount val="5"/>
                <c:pt idx="0">
                  <c:v>10</c:v>
                </c:pt>
                <c:pt idx="1">
                  <c:v>8</c:v>
                </c:pt>
                <c:pt idx="2">
                  <c:v>9</c:v>
                </c:pt>
                <c:pt idx="3">
                  <c:v>11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20-4747-8B90-AA50870101B6}"/>
            </c:ext>
          </c:extLst>
        </c:ser>
        <c:ser>
          <c:idx val="1"/>
          <c:order val="1"/>
          <c:tx>
            <c:strRef>
              <c:f>Sheet2!$E$7</c:f>
              <c:strCache>
                <c:ptCount val="1"/>
                <c:pt idx="0">
                  <c:v>活躍期待層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Sheet2!$C$8:$C$12</c:f>
              <c:strCache>
                <c:ptCount val="5"/>
                <c:pt idx="0">
                  <c:v>20代</c:v>
                </c:pt>
                <c:pt idx="1">
                  <c:v>30代</c:v>
                </c:pt>
                <c:pt idx="2">
                  <c:v>40代</c:v>
                </c:pt>
                <c:pt idx="3">
                  <c:v>50代</c:v>
                </c:pt>
                <c:pt idx="4">
                  <c:v>60代</c:v>
                </c:pt>
              </c:strCache>
            </c:strRef>
          </c:cat>
          <c:val>
            <c:numRef>
              <c:f>Sheet2!$E$8:$E$12</c:f>
              <c:numCache>
                <c:formatCode>General</c:formatCode>
                <c:ptCount val="5"/>
                <c:pt idx="0">
                  <c:v>12</c:v>
                </c:pt>
                <c:pt idx="1">
                  <c:v>9</c:v>
                </c:pt>
                <c:pt idx="2">
                  <c:v>5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20-4747-8B90-AA50870101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15731327"/>
        <c:axId val="1715731807"/>
      </c:barChart>
      <c:catAx>
        <c:axId val="1715731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pPr>
            <a:endParaRPr lang="ja-JP"/>
          </a:p>
        </c:txPr>
        <c:crossAx val="1715731807"/>
        <c:crosses val="autoZero"/>
        <c:auto val="1"/>
        <c:lblAlgn val="ctr"/>
        <c:lblOffset val="100"/>
        <c:noMultiLvlLbl val="0"/>
      </c:catAx>
      <c:valAx>
        <c:axId val="17157318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pPr>
            <a:endParaRPr lang="ja-JP"/>
          </a:p>
        </c:txPr>
        <c:crossAx val="17157313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 sz="1200">
          <a:latin typeface="メイリオ" panose="020B0604030504040204" pitchFamily="50" charset="-128"/>
          <a:ea typeface="メイリオ" panose="020B0604030504040204" pitchFamily="50" charset="-128"/>
        </a:defRPr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pPr>
            <a:r>
              <a:rPr lang="ja-JP" b="1"/>
              <a:t>在籍年数別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+mn-cs"/>
            </a:defRPr>
          </a:pPr>
          <a:endParaRPr lang="ja-JP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Sheet2!$D$14</c:f>
              <c:strCache>
                <c:ptCount val="1"/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Sheet2!$C$15:$C$23</c:f>
              <c:strCache>
                <c:ptCount val="9"/>
                <c:pt idx="0">
                  <c:v>1年未満</c:v>
                </c:pt>
                <c:pt idx="1">
                  <c:v>2年未満</c:v>
                </c:pt>
                <c:pt idx="2">
                  <c:v>3年未満</c:v>
                </c:pt>
                <c:pt idx="3">
                  <c:v>4年未満</c:v>
                </c:pt>
                <c:pt idx="4">
                  <c:v>5年未満</c:v>
                </c:pt>
                <c:pt idx="5">
                  <c:v>10年未満</c:v>
                </c:pt>
                <c:pt idx="6">
                  <c:v>20年未満</c:v>
                </c:pt>
                <c:pt idx="7">
                  <c:v>30年未満</c:v>
                </c:pt>
                <c:pt idx="8">
                  <c:v>40年未満</c:v>
                </c:pt>
              </c:strCache>
            </c:strRef>
          </c:cat>
          <c:val>
            <c:numRef>
              <c:f>Sheet2!$D$15:$D$23</c:f>
              <c:numCache>
                <c:formatCode>General</c:formatCode>
                <c:ptCount val="9"/>
                <c:pt idx="0">
                  <c:v>10</c:v>
                </c:pt>
                <c:pt idx="1">
                  <c:v>7</c:v>
                </c:pt>
                <c:pt idx="2">
                  <c:v>4</c:v>
                </c:pt>
                <c:pt idx="3">
                  <c:v>5</c:v>
                </c:pt>
                <c:pt idx="4">
                  <c:v>1</c:v>
                </c:pt>
                <c:pt idx="5">
                  <c:v>8</c:v>
                </c:pt>
                <c:pt idx="6">
                  <c:v>1</c:v>
                </c:pt>
                <c:pt idx="7">
                  <c:v>7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D9-486B-BF44-B3B4D437FF72}"/>
            </c:ext>
          </c:extLst>
        </c:ser>
        <c:ser>
          <c:idx val="1"/>
          <c:order val="1"/>
          <c:tx>
            <c:strRef>
              <c:f>Sheet2!$E$14</c:f>
              <c:strCache>
                <c:ptCount val="1"/>
                <c:pt idx="0">
                  <c:v>活躍期待層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Sheet2!$C$15:$C$23</c:f>
              <c:strCache>
                <c:ptCount val="9"/>
                <c:pt idx="0">
                  <c:v>1年未満</c:v>
                </c:pt>
                <c:pt idx="1">
                  <c:v>2年未満</c:v>
                </c:pt>
                <c:pt idx="2">
                  <c:v>3年未満</c:v>
                </c:pt>
                <c:pt idx="3">
                  <c:v>4年未満</c:v>
                </c:pt>
                <c:pt idx="4">
                  <c:v>5年未満</c:v>
                </c:pt>
                <c:pt idx="5">
                  <c:v>10年未満</c:v>
                </c:pt>
                <c:pt idx="6">
                  <c:v>20年未満</c:v>
                </c:pt>
                <c:pt idx="7">
                  <c:v>30年未満</c:v>
                </c:pt>
                <c:pt idx="8">
                  <c:v>40年未満</c:v>
                </c:pt>
              </c:strCache>
            </c:strRef>
          </c:cat>
          <c:val>
            <c:numRef>
              <c:f>Sheet2!$E$15:$E$23</c:f>
              <c:numCache>
                <c:formatCode>General</c:formatCode>
                <c:ptCount val="9"/>
                <c:pt idx="0">
                  <c:v>1</c:v>
                </c:pt>
                <c:pt idx="1">
                  <c:v>6</c:v>
                </c:pt>
                <c:pt idx="2">
                  <c:v>9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D9-486B-BF44-B3B4D437FF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63317759"/>
        <c:axId val="2063313439"/>
      </c:barChart>
      <c:catAx>
        <c:axId val="20633177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pPr>
            <a:endParaRPr lang="ja-JP"/>
          </a:p>
        </c:txPr>
        <c:crossAx val="2063313439"/>
        <c:crosses val="autoZero"/>
        <c:auto val="1"/>
        <c:lblAlgn val="ctr"/>
        <c:lblOffset val="100"/>
        <c:noMultiLvlLbl val="0"/>
      </c:catAx>
      <c:valAx>
        <c:axId val="2063313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pPr>
            <a:endParaRPr lang="ja-JP"/>
          </a:p>
        </c:txPr>
        <c:crossAx val="20633177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 sz="1200">
          <a:latin typeface="メイリオ" panose="020B0604030504040204" pitchFamily="50" charset="-128"/>
          <a:ea typeface="メイリオ" panose="020B0604030504040204" pitchFamily="50" charset="-128"/>
        </a:defRPr>
      </a:pPr>
      <a:endParaRPr lang="ja-JP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pPr>
            <a:r>
              <a:rPr lang="en-US" b="1"/>
              <a:t>20</a:t>
            </a:r>
            <a:r>
              <a:rPr lang="ja-JP" b="1"/>
              <a:t>代の離職理由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+mn-cs"/>
            </a:defRPr>
          </a:pPr>
          <a:endParaRPr lang="ja-JP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Sheet2!$E$27</c:f>
              <c:strCache>
                <c:ptCount val="1"/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Sheet2!$D$28:$D$34</c:f>
              <c:strCache>
                <c:ptCount val="7"/>
                <c:pt idx="0">
                  <c:v>疾病</c:v>
                </c:pt>
                <c:pt idx="1">
                  <c:v>年収Up</c:v>
                </c:pt>
                <c:pt idx="2">
                  <c:v>低評価</c:v>
                </c:pt>
                <c:pt idx="3">
                  <c:v>IT外へ</c:v>
                </c:pt>
                <c:pt idx="4">
                  <c:v>V40非マッチ</c:v>
                </c:pt>
                <c:pt idx="5">
                  <c:v>営業解体</c:v>
                </c:pt>
                <c:pt idx="6">
                  <c:v>その他</c:v>
                </c:pt>
              </c:strCache>
            </c:strRef>
          </c:cat>
          <c:val>
            <c:numRef>
              <c:f>Sheet2!$E$28:$E$34</c:f>
              <c:numCache>
                <c:formatCode>General</c:formatCode>
                <c:ptCount val="7"/>
                <c:pt idx="0">
                  <c:v>3</c:v>
                </c:pt>
                <c:pt idx="1">
                  <c:v>0</c:v>
                </c:pt>
                <c:pt idx="2">
                  <c:v>3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41-4BE8-9CB5-EBAC095DBE43}"/>
            </c:ext>
          </c:extLst>
        </c:ser>
        <c:ser>
          <c:idx val="1"/>
          <c:order val="1"/>
          <c:tx>
            <c:strRef>
              <c:f>Sheet2!$F$27</c:f>
              <c:strCache>
                <c:ptCount val="1"/>
                <c:pt idx="0">
                  <c:v>活躍期待層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Sheet2!$D$28:$D$34</c:f>
              <c:strCache>
                <c:ptCount val="7"/>
                <c:pt idx="0">
                  <c:v>疾病</c:v>
                </c:pt>
                <c:pt idx="1">
                  <c:v>年収Up</c:v>
                </c:pt>
                <c:pt idx="2">
                  <c:v>低評価</c:v>
                </c:pt>
                <c:pt idx="3">
                  <c:v>IT外へ</c:v>
                </c:pt>
                <c:pt idx="4">
                  <c:v>V40非マッチ</c:v>
                </c:pt>
                <c:pt idx="5">
                  <c:v>営業解体</c:v>
                </c:pt>
                <c:pt idx="6">
                  <c:v>その他</c:v>
                </c:pt>
              </c:strCache>
            </c:strRef>
          </c:cat>
          <c:val>
            <c:numRef>
              <c:f>Sheet2!$F$28:$F$34</c:f>
              <c:numCache>
                <c:formatCode>General</c:formatCode>
                <c:ptCount val="7"/>
                <c:pt idx="0">
                  <c:v>1</c:v>
                </c:pt>
                <c:pt idx="1">
                  <c:v>4</c:v>
                </c:pt>
                <c:pt idx="3">
                  <c:v>2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41-4BE8-9CB5-EBAC095DBE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91663631"/>
        <c:axId val="1691664111"/>
      </c:barChart>
      <c:catAx>
        <c:axId val="16916636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pPr>
            <a:endParaRPr lang="ja-JP"/>
          </a:p>
        </c:txPr>
        <c:crossAx val="1691664111"/>
        <c:crosses val="autoZero"/>
        <c:auto val="1"/>
        <c:lblAlgn val="ctr"/>
        <c:lblOffset val="100"/>
        <c:noMultiLvlLbl val="0"/>
      </c:catAx>
      <c:valAx>
        <c:axId val="16916641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pPr>
            <a:endParaRPr lang="ja-JP"/>
          </a:p>
        </c:txPr>
        <c:crossAx val="16916636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 sz="1200">
          <a:latin typeface="メイリオ" panose="020B0604030504040204" pitchFamily="50" charset="-128"/>
          <a:ea typeface="メイリオ" panose="020B0604030504040204" pitchFamily="50" charset="-128"/>
        </a:defRPr>
      </a:pPr>
      <a:endParaRPr lang="ja-JP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pPr>
            <a:r>
              <a:rPr lang="en-US" b="1"/>
              <a:t>30</a:t>
            </a:r>
            <a:r>
              <a:rPr lang="ja-JP" b="1"/>
              <a:t>代の離職理由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+mn-cs"/>
            </a:defRPr>
          </a:pPr>
          <a:endParaRPr lang="ja-JP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Sheet2!$J$27</c:f>
              <c:strCache>
                <c:ptCount val="1"/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Sheet2!$I$28:$I$34</c:f>
              <c:strCache>
                <c:ptCount val="7"/>
                <c:pt idx="0">
                  <c:v>疾病</c:v>
                </c:pt>
                <c:pt idx="1">
                  <c:v>年収Up</c:v>
                </c:pt>
                <c:pt idx="2">
                  <c:v>低評価</c:v>
                </c:pt>
                <c:pt idx="3">
                  <c:v>IT外へ</c:v>
                </c:pt>
                <c:pt idx="4">
                  <c:v>V40非マッチ</c:v>
                </c:pt>
                <c:pt idx="5">
                  <c:v>営業解体</c:v>
                </c:pt>
                <c:pt idx="6">
                  <c:v>その他</c:v>
                </c:pt>
              </c:strCache>
            </c:strRef>
          </c:cat>
          <c:val>
            <c:numRef>
              <c:f>Sheet2!$J$28:$J$34</c:f>
              <c:numCache>
                <c:formatCode>General</c:formatCode>
                <c:ptCount val="7"/>
                <c:pt idx="0">
                  <c:v>2</c:v>
                </c:pt>
                <c:pt idx="1">
                  <c:v>0</c:v>
                </c:pt>
                <c:pt idx="2">
                  <c:v>2</c:v>
                </c:pt>
                <c:pt idx="3">
                  <c:v>0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14-4714-BEE1-34B2AC0A19F7}"/>
            </c:ext>
          </c:extLst>
        </c:ser>
        <c:ser>
          <c:idx val="1"/>
          <c:order val="1"/>
          <c:tx>
            <c:strRef>
              <c:f>Sheet2!$K$27</c:f>
              <c:strCache>
                <c:ptCount val="1"/>
                <c:pt idx="0">
                  <c:v>活躍期待層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Sheet2!$I$28:$I$34</c:f>
              <c:strCache>
                <c:ptCount val="7"/>
                <c:pt idx="0">
                  <c:v>疾病</c:v>
                </c:pt>
                <c:pt idx="1">
                  <c:v>年収Up</c:v>
                </c:pt>
                <c:pt idx="2">
                  <c:v>低評価</c:v>
                </c:pt>
                <c:pt idx="3">
                  <c:v>IT外へ</c:v>
                </c:pt>
                <c:pt idx="4">
                  <c:v>V40非マッチ</c:v>
                </c:pt>
                <c:pt idx="5">
                  <c:v>営業解体</c:v>
                </c:pt>
                <c:pt idx="6">
                  <c:v>その他</c:v>
                </c:pt>
              </c:strCache>
            </c:strRef>
          </c:cat>
          <c:val>
            <c:numRef>
              <c:f>Sheet2!$K$28:$K$34</c:f>
              <c:numCache>
                <c:formatCode>General</c:formatCode>
                <c:ptCount val="7"/>
                <c:pt idx="1">
                  <c:v>1</c:v>
                </c:pt>
                <c:pt idx="4">
                  <c:v>2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14-4714-BEE1-34B2AC0A19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14882767"/>
        <c:axId val="1714883727"/>
      </c:barChart>
      <c:catAx>
        <c:axId val="1714882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pPr>
            <a:endParaRPr lang="ja-JP"/>
          </a:p>
        </c:txPr>
        <c:crossAx val="1714883727"/>
        <c:crosses val="autoZero"/>
        <c:auto val="1"/>
        <c:lblAlgn val="ctr"/>
        <c:lblOffset val="100"/>
        <c:noMultiLvlLbl val="0"/>
      </c:catAx>
      <c:valAx>
        <c:axId val="17148837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pPr>
            <a:endParaRPr lang="ja-JP"/>
          </a:p>
        </c:txPr>
        <c:crossAx val="17148827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 sz="1200">
          <a:latin typeface="メイリオ" panose="020B0604030504040204" pitchFamily="50" charset="-128"/>
          <a:ea typeface="メイリオ" panose="020B0604030504040204" pitchFamily="50" charset="-128"/>
        </a:defRPr>
      </a:pPr>
      <a:endParaRPr lang="ja-JP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pPr>
            <a:r>
              <a:rPr lang="ja-JP" b="1"/>
              <a:t>在籍年数</a:t>
            </a:r>
            <a:r>
              <a:rPr lang="en-US" b="1"/>
              <a:t>2</a:t>
            </a:r>
            <a:r>
              <a:rPr lang="ja-JP" b="1"/>
              <a:t>～</a:t>
            </a:r>
            <a:r>
              <a:rPr lang="en-US" b="1"/>
              <a:t>3</a:t>
            </a:r>
            <a:r>
              <a:rPr lang="ja-JP" b="1"/>
              <a:t>年の離職理由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+mn-cs"/>
            </a:defRPr>
          </a:pPr>
          <a:endParaRPr lang="ja-JP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Sheet2!$E$36</c:f>
              <c:strCache>
                <c:ptCount val="1"/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Sheet2!$D$37:$D$43</c:f>
              <c:strCache>
                <c:ptCount val="7"/>
                <c:pt idx="0">
                  <c:v>疾病</c:v>
                </c:pt>
                <c:pt idx="1">
                  <c:v>年収Up</c:v>
                </c:pt>
                <c:pt idx="2">
                  <c:v>低評価</c:v>
                </c:pt>
                <c:pt idx="3">
                  <c:v>IT外へ</c:v>
                </c:pt>
                <c:pt idx="4">
                  <c:v>V40非マッチ</c:v>
                </c:pt>
                <c:pt idx="5">
                  <c:v>営業解体</c:v>
                </c:pt>
                <c:pt idx="6">
                  <c:v>その他</c:v>
                </c:pt>
              </c:strCache>
            </c:strRef>
          </c:cat>
          <c:val>
            <c:numRef>
              <c:f>Sheet2!$E$37:$E$43</c:f>
              <c:numCache>
                <c:formatCode>General</c:formatCode>
                <c:ptCount val="7"/>
                <c:pt idx="0">
                  <c:v>2</c:v>
                </c:pt>
                <c:pt idx="1">
                  <c:v>0</c:v>
                </c:pt>
                <c:pt idx="2">
                  <c:v>3</c:v>
                </c:pt>
                <c:pt idx="3">
                  <c:v>0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AA-4F75-A3CF-FBB7108BD85D}"/>
            </c:ext>
          </c:extLst>
        </c:ser>
        <c:ser>
          <c:idx val="1"/>
          <c:order val="1"/>
          <c:tx>
            <c:strRef>
              <c:f>Sheet2!$F$36</c:f>
              <c:strCache>
                <c:ptCount val="1"/>
                <c:pt idx="0">
                  <c:v>活躍期待層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Sheet2!$D$37:$D$43</c:f>
              <c:strCache>
                <c:ptCount val="7"/>
                <c:pt idx="0">
                  <c:v>疾病</c:v>
                </c:pt>
                <c:pt idx="1">
                  <c:v>年収Up</c:v>
                </c:pt>
                <c:pt idx="2">
                  <c:v>低評価</c:v>
                </c:pt>
                <c:pt idx="3">
                  <c:v>IT外へ</c:v>
                </c:pt>
                <c:pt idx="4">
                  <c:v>V40非マッチ</c:v>
                </c:pt>
                <c:pt idx="5">
                  <c:v>営業解体</c:v>
                </c:pt>
                <c:pt idx="6">
                  <c:v>その他</c:v>
                </c:pt>
              </c:strCache>
            </c:strRef>
          </c:cat>
          <c:val>
            <c:numRef>
              <c:f>Sheet2!$F$37:$F$43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6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AA-4F75-A3CF-FBB7108BD8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25742767"/>
        <c:axId val="1025744207"/>
      </c:barChart>
      <c:catAx>
        <c:axId val="1025742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pPr>
            <a:endParaRPr lang="ja-JP"/>
          </a:p>
        </c:txPr>
        <c:crossAx val="1025744207"/>
        <c:crosses val="autoZero"/>
        <c:auto val="1"/>
        <c:lblAlgn val="ctr"/>
        <c:lblOffset val="100"/>
        <c:noMultiLvlLbl val="0"/>
      </c:catAx>
      <c:valAx>
        <c:axId val="10257442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pPr>
            <a:endParaRPr lang="ja-JP"/>
          </a:p>
        </c:txPr>
        <c:crossAx val="1025742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ayout>
        <c:manualLayout>
          <c:xMode val="edge"/>
          <c:yMode val="edge"/>
          <c:x val="0.79741141732283471"/>
          <c:y val="5.150408282298042E-2"/>
          <c:w val="0.1829549431321085"/>
          <c:h val="7.81255468066491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+mn-cs"/>
            </a:defRPr>
          </a:pPr>
          <a:endParaRPr lang="ja-JP"/>
        </a:p>
      </c:txPr>
    </c:legend>
    <c:plotVisOnly val="1"/>
    <c:dispBlanksAs val="gap"/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 sz="1200">
          <a:latin typeface="メイリオ" panose="020B0604030504040204" pitchFamily="50" charset="-128"/>
          <a:ea typeface="メイリオ" panose="020B0604030504040204" pitchFamily="50" charset="-128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1E_740B4B3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ED456A0-52D5-4001-A626-73A5F2AD5B6C}" authorId="{598C8217-A8D7-B303-59A1-0CBC0657504B}" created="2025-09-12T00:12:52.045">
    <pc:sldMkLst xmlns:pc="http://schemas.microsoft.com/office/powerpoint/2013/main/command">
      <pc:docMk/>
      <pc:sldMk cId="1946897200" sldId="286"/>
    </pc:sldMkLst>
    <p188:txBody>
      <a:bodyPr/>
      <a:lstStyle/>
      <a:p>
        <a:r>
          <a:rPr lang="ja-JP" altLang="en-US"/>
          <a:t>全体像が見えるのは良いが
さすがに細かすぎる?</a:t>
        </a:r>
      </a:p>
    </p188:txBody>
  </p188:cm>
</p188:cmLst>
</file>

<file path=ppt/comments/modernComment_12A_BBAD69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30CD8CB-7DA7-4A74-A098-AB3AEAF99ACA}" authorId="{598C8217-A8D7-B303-59A1-0CBC0657504B}" created="2025-09-12T00:11:39.35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6794010" sldId="298"/>
      <ac:spMk id="3" creationId="{E57C0FA8-FAA3-1EC0-F8D3-2403C34BA94A}"/>
    </ac:deMkLst>
    <p188:txBody>
      <a:bodyPr/>
      <a:lstStyle/>
      <a:p>
        <a:r>
          <a:rPr lang="ja-JP" altLang="en-US"/>
          <a:t>外国籍比率は5%程度
公用語までは5年ではイメージしにくいな
</a:t>
        </a:r>
      </a:p>
    </p188:txBody>
  </p188:cm>
  <p188:cm id="{222A3F40-00D7-48A8-A58E-C742FD2ED61D}" authorId="{598C8217-A8D7-B303-59A1-0CBC0657504B}" created="2025-09-12T00:12:32.20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6794010" sldId="298"/>
      <ac:spMk id="3" creationId="{E57C0FA8-FAA3-1EC0-F8D3-2403C34BA94A}"/>
    </ac:deMkLst>
    <p188:txBody>
      <a:bodyPr/>
      <a:lstStyle/>
      <a:p>
        <a:r>
          <a:rPr lang="ja-JP" altLang="en-US"/>
          <a:t>海外展開するなら、本部機能独立後に海外人事・法務・財務経験者も必要</a:t>
        </a:r>
      </a:p>
    </p188:txBody>
  </p188:cm>
</p188:cmLst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79751F0-EABA-4087-89AD-C0246B909D39}" authorId="{598C8217-A8D7-B303-59A1-0CBC0657504B}" created="2025-09-12T00:13:14.95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3" creationId="{00000000-0000-0000-0000-000000000000}"/>
    </ac:deMkLst>
    <p188:txBody>
      <a:bodyPr/>
      <a:lstStyle/>
      <a:p>
        <a:r>
          <a:rPr lang="ja-JP" altLang="en-US"/>
          <a:t>目指す姿を説明するために「手段」が混在している気がする</a:t>
        </a:r>
      </a:p>
    </p188:txBody>
  </p188:cm>
</p188:cmLst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0.34828</cdr:x>
      <cdr:y>0.30971</cdr:y>
    </cdr:from>
    <cdr:to>
      <cdr:x>0.4858</cdr:x>
      <cdr:y>0.58522</cdr:y>
    </cdr:to>
    <cdr:sp macro="" textlink="">
      <cdr:nvSpPr>
        <cdr:cNvPr id="2" name="楕円 1">
          <a:extLst xmlns:a="http://schemas.openxmlformats.org/drawingml/2006/main">
            <a:ext uri="{FF2B5EF4-FFF2-40B4-BE49-F238E27FC236}">
              <a16:creationId xmlns:a16="http://schemas.microsoft.com/office/drawing/2014/main" id="{12B877BB-A508-92BA-6A09-E383F7F7DAB5}"/>
            </a:ext>
          </a:extLst>
        </cdr:cNvPr>
        <cdr:cNvSpPr/>
      </cdr:nvSpPr>
      <cdr:spPr>
        <a:xfrm xmlns:a="http://schemas.openxmlformats.org/drawingml/2006/main">
          <a:off x="2219323" y="1498194"/>
          <a:ext cx="876300" cy="1332752"/>
        </a:xfrm>
        <a:prstGeom xmlns:a="http://schemas.openxmlformats.org/drawingml/2006/main" prst="ellipse">
          <a:avLst/>
        </a:prstGeom>
        <a:noFill xmlns:a="http://schemas.openxmlformats.org/drawingml/2006/main"/>
        <a:ln xmlns:a="http://schemas.openxmlformats.org/drawingml/2006/main" w="28575">
          <a:solidFill>
            <a:srgbClr val="C00000"/>
          </a:solidFill>
          <a:prstDash val="sysDot"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kumimoji="1" lang="ja-JP" altLang="en-US"/>
        </a:p>
      </cdr:txBody>
    </cdr:sp>
  </cdr:relSizeAnchor>
  <cdr:relSizeAnchor xmlns:cdr="http://schemas.openxmlformats.org/drawingml/2006/chartDrawing">
    <cdr:from>
      <cdr:x>0.59567</cdr:x>
      <cdr:y>0.31036</cdr:y>
    </cdr:from>
    <cdr:to>
      <cdr:x>0.73318</cdr:x>
      <cdr:y>0.58587</cdr:y>
    </cdr:to>
    <cdr:sp macro="" textlink="">
      <cdr:nvSpPr>
        <cdr:cNvPr id="3" name="楕円 2">
          <a:extLst xmlns:a="http://schemas.openxmlformats.org/drawingml/2006/main">
            <a:ext uri="{FF2B5EF4-FFF2-40B4-BE49-F238E27FC236}">
              <a16:creationId xmlns:a16="http://schemas.microsoft.com/office/drawing/2014/main" id="{62ED2DA4-8E25-925B-B09E-45D538E15BF6}"/>
            </a:ext>
          </a:extLst>
        </cdr:cNvPr>
        <cdr:cNvSpPr/>
      </cdr:nvSpPr>
      <cdr:spPr>
        <a:xfrm xmlns:a="http://schemas.openxmlformats.org/drawingml/2006/main">
          <a:off x="3795712" y="1501369"/>
          <a:ext cx="876300" cy="1332752"/>
        </a:xfrm>
        <a:prstGeom xmlns:a="http://schemas.openxmlformats.org/drawingml/2006/main" prst="ellipse">
          <a:avLst/>
        </a:prstGeom>
        <a:noFill xmlns:a="http://schemas.openxmlformats.org/drawingml/2006/main"/>
        <a:ln xmlns:a="http://schemas.openxmlformats.org/drawingml/2006/main" w="28575">
          <a:solidFill>
            <a:srgbClr val="C00000"/>
          </a:solidFill>
          <a:prstDash val="sysDot"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kumimoji="1" lang="ja-JP" altLang="en-US"/>
        </a:p>
      </cdr:txBody>
    </cdr:sp>
  </cdr:relSizeAnchor>
  <cdr:relSizeAnchor xmlns:cdr="http://schemas.openxmlformats.org/drawingml/2006/chartDrawing">
    <cdr:from>
      <cdr:x>0.84305</cdr:x>
      <cdr:y>0.3143</cdr:y>
    </cdr:from>
    <cdr:to>
      <cdr:x>0.98057</cdr:x>
      <cdr:y>0.58981</cdr:y>
    </cdr:to>
    <cdr:sp macro="" textlink="">
      <cdr:nvSpPr>
        <cdr:cNvPr id="4" name="楕円 3">
          <a:extLst xmlns:a="http://schemas.openxmlformats.org/drawingml/2006/main">
            <a:ext uri="{FF2B5EF4-FFF2-40B4-BE49-F238E27FC236}">
              <a16:creationId xmlns:a16="http://schemas.microsoft.com/office/drawing/2014/main" id="{62ED2DA4-8E25-925B-B09E-45D538E15BF6}"/>
            </a:ext>
          </a:extLst>
        </cdr:cNvPr>
        <cdr:cNvSpPr/>
      </cdr:nvSpPr>
      <cdr:spPr>
        <a:xfrm xmlns:a="http://schemas.openxmlformats.org/drawingml/2006/main">
          <a:off x="5372099" y="1520419"/>
          <a:ext cx="876300" cy="1332752"/>
        </a:xfrm>
        <a:prstGeom xmlns:a="http://schemas.openxmlformats.org/drawingml/2006/main" prst="ellipse">
          <a:avLst/>
        </a:prstGeom>
        <a:noFill xmlns:a="http://schemas.openxmlformats.org/drawingml/2006/main"/>
        <a:ln xmlns:a="http://schemas.openxmlformats.org/drawingml/2006/main" w="28575">
          <a:solidFill>
            <a:srgbClr val="C00000"/>
          </a:solidFill>
          <a:prstDash val="sysDot"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kumimoji="1" lang="ja-JP" altLang="en-US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0.19802</cdr:x>
      <cdr:y>0.19652</cdr:y>
    </cdr:from>
    <cdr:to>
      <cdr:x>0.39604</cdr:x>
      <cdr:y>0.75156</cdr:y>
    </cdr:to>
    <cdr:sp macro="" textlink="">
      <cdr:nvSpPr>
        <cdr:cNvPr id="2" name="楕円 1">
          <a:extLst xmlns:a="http://schemas.openxmlformats.org/drawingml/2006/main">
            <a:ext uri="{FF2B5EF4-FFF2-40B4-BE49-F238E27FC236}">
              <a16:creationId xmlns:a16="http://schemas.microsoft.com/office/drawing/2014/main" id="{A6E8B0F9-229B-0F2F-6DFF-429FA750F48B}"/>
            </a:ext>
          </a:extLst>
        </cdr:cNvPr>
        <cdr:cNvSpPr/>
      </cdr:nvSpPr>
      <cdr:spPr>
        <a:xfrm xmlns:a="http://schemas.openxmlformats.org/drawingml/2006/main">
          <a:off x="876298" y="560047"/>
          <a:ext cx="876300" cy="1581807"/>
        </a:xfrm>
        <a:prstGeom xmlns:a="http://schemas.openxmlformats.org/drawingml/2006/main" prst="ellipse">
          <a:avLst/>
        </a:prstGeom>
        <a:noFill xmlns:a="http://schemas.openxmlformats.org/drawingml/2006/main"/>
        <a:ln xmlns:a="http://schemas.openxmlformats.org/drawingml/2006/main" w="28575">
          <a:solidFill>
            <a:srgbClr val="C00000"/>
          </a:solidFill>
          <a:prstDash val="sysDot"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endParaRPr kumimoji="1" lang="ja-JP" altLang="en-US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B70DAD-6918-407D-AB8A-F14803C143CF}" type="datetimeFigureOut">
              <a:rPr kumimoji="1" lang="ja-JP" altLang="en-US" smtClean="0"/>
              <a:t>2025/9/17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F88A56-9250-45A8-ADDD-8F7A2FC24F4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593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8A56-9250-45A8-ADDD-8F7A2FC24F43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2418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F5F34-CB48-8693-0CA2-47B4C89C2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2326692-08AC-D8CD-FB58-68E3EBE00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09C5BE7-ADCE-E691-8963-77C987D87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43B6758-0062-28CE-1C2D-C55A835B9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8A56-9250-45A8-ADDD-8F7A2FC24F43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9626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5BBE4-4650-249A-E83F-35A6EE728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4A83971-6DC7-A161-F766-8EF7DC665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66F538-ED90-6635-9443-33B897D11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1. 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一般的な人事人数比の目安		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日本企業平均（採用・育成・制度・労務を含む）：社員数の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1〜2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％		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500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 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× 1.5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％ ＝ 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7〜8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名		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外資系や人材投資を重視する企業（採用・研修を厚くする）：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2〜3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％		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500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 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× 2.5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％ ＝ 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12〜13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名		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3F4611-1025-0013-DBFC-AACE9F0AB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8A56-9250-45A8-ADDD-8F7A2FC24F43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4042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RBP</a:t>
            </a:r>
            <a:r>
              <a:rPr lang="ja-JP" altLang="en-US" dirty="0"/>
              <a:t>とは </a:t>
            </a:r>
            <a:r>
              <a:rPr lang="en-US" altLang="ja-JP" b="1" dirty="0"/>
              <a:t>Human Resources Business Partner</a:t>
            </a:r>
            <a:r>
              <a:rPr lang="ja-JP" altLang="en-US" b="1" dirty="0"/>
              <a:t>（人事ビジネスパートナー）</a:t>
            </a:r>
            <a:r>
              <a:rPr lang="ja-JP" altLang="en-US" dirty="0"/>
              <a:t> の略です。</a:t>
            </a:r>
            <a:br>
              <a:rPr lang="ja-JP" altLang="en-US" dirty="0"/>
            </a:br>
            <a:r>
              <a:rPr lang="ja-JP" altLang="en-US" dirty="0"/>
              <a:t>企業における人事部門の役割を「管理・オペレーション」中心から「戦略・事業支援」へとシフトさせる考え方のひとつで、</a:t>
            </a:r>
            <a:r>
              <a:rPr lang="ja-JP" altLang="en-US" b="1" dirty="0"/>
              <a:t>事業部門の経営層やマネジャーと密接に連携しながら、人材戦略を事業戦略と結びつける役割</a:t>
            </a:r>
            <a:r>
              <a:rPr lang="ja-JP" altLang="en-US" dirty="0"/>
              <a:t>を担います。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8A56-9250-45A8-ADDD-8F7A2FC24F43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3351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B2CE9-4B7C-D2F7-17F9-78B394F5A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356DF50-13EB-9C9B-AD86-1F9E718A7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4FAF6CA-EA73-8347-44F0-5E377A150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1. 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一般的な人事人数比の目安		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日本企業平均（採用・育成・制度・労務を含む）：社員数の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1〜2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％		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500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 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× 1.5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％ ＝ 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7〜8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名		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外資系や人材投資を重視する企業（採用・研修を厚くする）：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2〜3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％		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500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 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× 2.5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％ ＝ 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12〜13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名		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06C62A8-99FF-0B48-BBF0-56539A32F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8A56-9250-45A8-ADDD-8F7A2FC24F43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7049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活躍層や活躍が近い将来期待できる層の離職が多い部分を次ページでさらに分析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88A56-9250-45A8-ADDD-8F7A2FC24F43}" type="slidenum">
              <a:rPr kumimoji="1" lang="ja-JP" altLang="en-US" smtClean="0"/>
              <a:t>31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6058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B296-6F58-4D64-959C-BBAF7FB07E77}" type="datetime1">
              <a:rPr lang="en-US" altLang="ja-JP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75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01E10-FD83-4C8C-A7DE-CB7F8414E497}" type="datetime1">
              <a:rPr lang="en-US" altLang="ja-JP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425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5F3A6-4C3B-4A3A-B276-6AB186BC07AE}" type="datetime1">
              <a:rPr lang="en-US" altLang="ja-JP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09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B814D-3643-4A73-90AD-DDC95D79E7FC}" type="datetime1">
              <a:rPr lang="en-US" altLang="ja-JP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824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660FC-5018-4ADB-9B74-C7952A51EB05}" type="datetime1">
              <a:rPr lang="en-US" altLang="ja-JP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929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2C878-229E-4844-B206-214644270323}" type="datetime1">
              <a:rPr lang="en-US" altLang="ja-JP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146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4C36-A9FA-4EE9-AB52-7FD1E5465183}" type="datetime1">
              <a:rPr lang="en-US" altLang="ja-JP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589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142FB-EF6D-49D8-9D94-7BF03A1D22EF}" type="datetime1">
              <a:rPr lang="en-US" altLang="ja-JP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85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A4F2-C526-40A9-BC80-D0BF4D3CF629}" type="datetime1">
              <a:rPr lang="en-US" altLang="ja-JP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88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A241E-C31A-4F24-B2BC-BDEEFFACAC3E}" type="datetime1">
              <a:rPr lang="en-US" altLang="ja-JP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424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63859-A99E-4486-BCC8-D7C6D225D087}" type="datetime1">
              <a:rPr lang="en-US" altLang="ja-JP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47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65E3E-0E48-432D-BD14-6EC69694897A}" type="datetime1">
              <a:rPr lang="en-US" altLang="ja-JP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57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A_BBAD69A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8/10/relationships/comments" Target="../comments/modernComment_11E_740B4B3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altLang="ja-JP" sz="48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R100</a:t>
            </a:r>
            <a:r>
              <a:rPr lang="ja-JP" altLang="en-US" sz="48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達成に向けた</a:t>
            </a:r>
            <a:br>
              <a:rPr lang="ja-JP" altLang="en-US" sz="48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4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lang="ja-JP" altLang="en-US" sz="4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か年ロードマップ</a:t>
            </a:r>
            <a:r>
              <a:rPr lang="ja-JP" altLang="en-US" sz="48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</a:t>
            </a:r>
            <a:r>
              <a:rPr lang="en-US" altLang="ja-JP" sz="48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41</a:t>
            </a:r>
            <a:r>
              <a:rPr lang="ja-JP" altLang="en-US" sz="48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期事業計画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5520" y="4602351"/>
            <a:ext cx="11236556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VUC</a:t>
            </a:r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のミッション</a:t>
            </a:r>
            <a:r>
              <a:rPr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「経営をドライブする部門」へ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r"/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r"/>
            <a:r>
              <a:rPr lang="ja-JP" altLang="en-US" sz="17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バリューアップセンター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B1D17E6-5DF7-7230-EFC3-606C5A293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902A6B-54F2-86EB-6CB4-99C7DCD7A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5D51F1-64EC-2184-59FC-22AFB262BE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97525C-1784-911B-9935-036C1DA8D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0068E8-8A02-D60E-15F3-7CE0FD624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1CD079-5739-783B-2DE5-2418B4ADB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2B7445-688F-7816-F520-1720CFC22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A3EB9-A7EC-817D-9C23-5621FDAC9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altLang="ja-JP" sz="400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R100</a:t>
            </a:r>
            <a:r>
              <a:rPr lang="ja-JP" altLang="en-US" sz="400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達成の姿</a:t>
            </a:r>
            <a:r>
              <a:rPr lang="en-US" altLang="ja-JP" sz="400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(1000</a:t>
            </a:r>
            <a:r>
              <a:rPr lang="ja-JP" altLang="en-US" sz="400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億円の通過点として</a:t>
            </a:r>
            <a:r>
              <a:rPr lang="en-US" altLang="ja-JP" sz="400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lang="ja-JP" altLang="en-US" sz="4000" dirty="0">
              <a:solidFill>
                <a:srgbClr val="FFFFFF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C0FA8-FAA3-1EC0-F8D3-2403C34BA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740" y="1891970"/>
            <a:ext cx="11076317" cy="4671491"/>
          </a:xfrm>
        </p:spPr>
        <p:txBody>
          <a:bodyPr anchor="ctr"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● </a:t>
            </a:r>
            <a:r>
              <a:rPr kumimoji="0" lang="ja-JP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社員数500名規模に成長している</a:t>
            </a:r>
            <a:br>
              <a:rPr kumimoji="0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kumimoji="0" lang="ja-JP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● 属人性</a:t>
            </a:r>
            <a:r>
              <a:rPr kumimoji="0" lang="ja-JP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から脱却し、持続的に生産性が高い組織になっている</a:t>
            </a:r>
            <a:br>
              <a:rPr kumimoji="0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kumimoji="0" lang="ja-JP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● </a:t>
            </a:r>
            <a:r>
              <a:rPr kumimoji="0" lang="ja-JP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中堅層・リーダー層が</a:t>
            </a:r>
            <a:r>
              <a:rPr kumimoji="0" lang="ja-JP" altLang="ja-JP" sz="2400">
                <a:latin typeface="メイリオ" panose="020B0604030504040204" pitchFamily="50" charset="-128"/>
                <a:ea typeface="メイリオ" panose="020B0604030504040204" pitchFamily="50" charset="-128"/>
              </a:rPr>
              <a:t>育ち、</a:t>
            </a:r>
            <a:r>
              <a:rPr kumimoji="0" lang="ja-JP" altLang="en-US" sz="2400">
                <a:latin typeface="メイリオ" panose="020B0604030504040204" pitchFamily="50" charset="-128"/>
                <a:ea typeface="メイリオ" panose="020B0604030504040204" pitchFamily="50" charset="-128"/>
              </a:rPr>
              <a:t>マネジメントが</a:t>
            </a:r>
            <a:r>
              <a:rPr kumimoji="0" lang="ja-JP" altLang="ja-JP" sz="2400">
                <a:latin typeface="メイリオ" panose="020B0604030504040204" pitchFamily="50" charset="-128"/>
                <a:ea typeface="メイリオ" panose="020B0604030504040204" pitchFamily="50" charset="-128"/>
              </a:rPr>
              <a:t>機能</a:t>
            </a:r>
            <a:r>
              <a:rPr kumimoji="0" lang="ja-JP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している</a:t>
            </a:r>
            <a:br>
              <a:rPr kumimoji="0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kumimoji="0" lang="ja-JP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● </a:t>
            </a:r>
            <a:r>
              <a:rPr kumimoji="0" lang="ja-JP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本部機能が戦略を立て、経営を牽引している</a:t>
            </a:r>
            <a:br>
              <a:rPr kumimoji="0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kumimoji="0" lang="ja-JP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● </a:t>
            </a:r>
            <a:r>
              <a:rPr kumimoji="0" lang="ja-JP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IPO準備を進められるガバナンス・監査体制が整っている</a:t>
            </a:r>
            <a:br>
              <a:rPr kumimoji="0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kumimoji="0" lang="ja-JP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● </a:t>
            </a:r>
            <a:r>
              <a:rPr kumimoji="0" lang="ja-JP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海外展開に対応できる多様性ある組織</a:t>
            </a:r>
            <a:r>
              <a:rPr kumimoji="0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</a:t>
            </a:r>
            <a:r>
              <a:rPr kumimoji="0" lang="ja-JP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実現している</a:t>
            </a:r>
            <a:br>
              <a:rPr kumimoji="0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kumimoji="0" lang="ja-JP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● </a:t>
            </a:r>
            <a:r>
              <a:rPr kumimoji="0" lang="ja-JP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1000億規模を目指せる経営層が育っている</a:t>
            </a:r>
            <a:endParaRPr lang="ja-JP" altLang="en-US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C6458E8-E482-7C8C-92C8-1C6AA2A1F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40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DB60C3-82B5-13E0-67B8-DE650748D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6555FC-9730-2274-5B3A-9681202A2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9B27F1-8D15-FB7A-61A5-C87EB2C63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7DF05A-AA6C-1A51-03C0-69C440ACA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B6F1D1-8FBD-C960-10F7-ADEE6CF77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7F404D-3D47-3B69-3FCC-577979FBB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87B817-3568-3E5A-CF81-C71886CCF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245" y="294538"/>
            <a:ext cx="11136702" cy="1033669"/>
          </a:xfrm>
        </p:spPr>
        <p:txBody>
          <a:bodyPr>
            <a:normAutofit/>
          </a:bodyPr>
          <a:lstStyle/>
          <a:p>
            <a:r>
              <a:rPr lang="ja-JP" altLang="en-US" sz="400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課題 </a:t>
            </a:r>
            <a:r>
              <a:rPr lang="en-US" altLang="ja-JP" sz="400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= </a:t>
            </a:r>
            <a:r>
              <a:rPr lang="ja-JP" altLang="en-US" sz="31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経営コントロールの本質的な違いを解決する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6B32A91-A37F-81E9-782A-F5CDD18B0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1840DE4-B906-5EF9-F65C-8CBEF43ABA1E}"/>
              </a:ext>
            </a:extLst>
          </p:cNvPr>
          <p:cNvSpPr txBox="1"/>
          <p:nvPr/>
        </p:nvSpPr>
        <p:spPr>
          <a:xfrm>
            <a:off x="459350" y="2012230"/>
            <a:ext cx="11522741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売上</a:t>
            </a:r>
            <a:endParaRPr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30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億：</a:t>
            </a:r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役員が案件やトラブル、評価等を把握できる　⇒　属人的経営でも回る</a:t>
            </a:r>
          </a:p>
          <a:p>
            <a:endParaRPr lang="ja-JP" altLang="en-US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100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億：</a:t>
            </a:r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中間層が制度に基づいて「数字・人材・案件」を把握しマネジメント</a:t>
            </a:r>
            <a:b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⇒　制度を整えシステム化して経営する</a:t>
            </a: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➡　社長から現場が見えにくくなるので、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KPI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・管理会計・会議体で“間接的に”意思決定する</a:t>
            </a:r>
          </a:p>
          <a:p>
            <a:endParaRPr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➡　経営コントロールは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～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倍難しくなるため、制度化・システム化・ミドル層の育成必須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C56929B9-CD09-6AF7-C8FD-51F259CB8649}"/>
              </a:ext>
            </a:extLst>
          </p:cNvPr>
          <p:cNvSpPr/>
          <p:nvPr/>
        </p:nvSpPr>
        <p:spPr>
          <a:xfrm>
            <a:off x="1449238" y="5661435"/>
            <a:ext cx="9435860" cy="69905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「人がやる仕組み」から「仕組みが人を動かす」への移行期</a:t>
            </a:r>
          </a:p>
        </p:txBody>
      </p:sp>
    </p:spTree>
    <p:extLst>
      <p:ext uri="{BB962C8B-B14F-4D97-AF65-F5344CB8AC3E}">
        <p14:creationId xmlns:p14="http://schemas.microsoft.com/office/powerpoint/2010/main" val="2638404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988" y="348367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altLang="ja-JP" sz="400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lang="ja-JP" altLang="en-US" sz="400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年で達成すべきこと</a:t>
            </a:r>
            <a:r>
              <a:rPr lang="ja-JP" altLang="en-US" sz="270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（不足の経営インフラを整える）</a:t>
            </a:r>
          </a:p>
        </p:txBody>
      </p:sp>
      <p:sp>
        <p:nvSpPr>
          <p:cNvPr id="25" name="フリーフォーム: 図形 24">
            <a:extLst>
              <a:ext uri="{FF2B5EF4-FFF2-40B4-BE49-F238E27FC236}">
                <a16:creationId xmlns:a16="http://schemas.microsoft.com/office/drawing/2014/main" id="{BBF0EB4B-4003-D89E-A4CD-4B0EF312F1C7}"/>
              </a:ext>
            </a:extLst>
          </p:cNvPr>
          <p:cNvSpPr/>
          <p:nvPr/>
        </p:nvSpPr>
        <p:spPr>
          <a:xfrm>
            <a:off x="1006764" y="1885902"/>
            <a:ext cx="8943288" cy="698118"/>
          </a:xfrm>
          <a:custGeom>
            <a:avLst/>
            <a:gdLst>
              <a:gd name="connsiteX0" fmla="*/ 0 w 8943288"/>
              <a:gd name="connsiteY0" fmla="*/ 0 h 698118"/>
              <a:gd name="connsiteX1" fmla="*/ 8943288 w 8943288"/>
              <a:gd name="connsiteY1" fmla="*/ 0 h 698118"/>
              <a:gd name="connsiteX2" fmla="*/ 8943288 w 8943288"/>
              <a:gd name="connsiteY2" fmla="*/ 698118 h 698118"/>
              <a:gd name="connsiteX3" fmla="*/ 0 w 8943288"/>
              <a:gd name="connsiteY3" fmla="*/ 698118 h 698118"/>
              <a:gd name="connsiteX4" fmla="*/ 0 w 8943288"/>
              <a:gd name="connsiteY4" fmla="*/ 0 h 698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43288" h="698118">
                <a:moveTo>
                  <a:pt x="0" y="0"/>
                </a:moveTo>
                <a:lnTo>
                  <a:pt x="8943288" y="0"/>
                </a:lnTo>
                <a:lnTo>
                  <a:pt x="8943288" y="698118"/>
                </a:lnTo>
                <a:lnTo>
                  <a:pt x="0" y="69811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8110" tIns="118110" rIns="118110" bIns="118110" numCol="1" spcCol="1270" anchor="t" anchorCtr="0">
            <a:noAutofit/>
          </a:bodyPr>
          <a:lstStyle/>
          <a:p>
            <a:pPr marL="0" lvl="0" indent="0" algn="l" defTabSz="1377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100" kern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R100達成に向けた5つの柱</a:t>
            </a:r>
          </a:p>
        </p:txBody>
      </p:sp>
      <p:sp>
        <p:nvSpPr>
          <p:cNvPr id="3" name="円柱 2">
            <a:extLst>
              <a:ext uri="{FF2B5EF4-FFF2-40B4-BE49-F238E27FC236}">
                <a16:creationId xmlns:a16="http://schemas.microsoft.com/office/drawing/2014/main" id="{BDB69E4F-2E9C-EA09-BC30-D4457C84D85B}"/>
              </a:ext>
            </a:extLst>
          </p:cNvPr>
          <p:cNvSpPr/>
          <p:nvPr/>
        </p:nvSpPr>
        <p:spPr>
          <a:xfrm>
            <a:off x="1231188" y="3079747"/>
            <a:ext cx="1496294" cy="3080135"/>
          </a:xfrm>
          <a:prstGeom prst="can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bg1"/>
                </a:solidFill>
              </a:rPr>
              <a:t>組織・人材戦略</a:t>
            </a:r>
          </a:p>
        </p:txBody>
      </p:sp>
      <p:sp>
        <p:nvSpPr>
          <p:cNvPr id="5" name="円柱 4">
            <a:extLst>
              <a:ext uri="{FF2B5EF4-FFF2-40B4-BE49-F238E27FC236}">
                <a16:creationId xmlns:a16="http://schemas.microsoft.com/office/drawing/2014/main" id="{DF63A59A-8A6A-7C08-4883-D88DCEE2DEC9}"/>
              </a:ext>
            </a:extLst>
          </p:cNvPr>
          <p:cNvSpPr/>
          <p:nvPr/>
        </p:nvSpPr>
        <p:spPr>
          <a:xfrm>
            <a:off x="7756276" y="3079747"/>
            <a:ext cx="1496294" cy="3080135"/>
          </a:xfrm>
          <a:prstGeom prst="can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bg1"/>
                </a:solidFill>
              </a:rPr>
              <a:t>財務</a:t>
            </a:r>
          </a:p>
          <a:p>
            <a:pPr algn="ctr"/>
            <a:r>
              <a:rPr kumimoji="1" lang="ja-JP" altLang="en-US" b="1" dirty="0">
                <a:solidFill>
                  <a:schemeClr val="bg1"/>
                </a:solidFill>
              </a:rPr>
              <a:t>戦略</a:t>
            </a:r>
          </a:p>
        </p:txBody>
      </p:sp>
      <p:sp>
        <p:nvSpPr>
          <p:cNvPr id="6" name="円柱 5">
            <a:extLst>
              <a:ext uri="{FF2B5EF4-FFF2-40B4-BE49-F238E27FC236}">
                <a16:creationId xmlns:a16="http://schemas.microsoft.com/office/drawing/2014/main" id="{F5E7F861-0339-BC9D-3ABD-F3498F5F8152}"/>
              </a:ext>
            </a:extLst>
          </p:cNvPr>
          <p:cNvSpPr/>
          <p:nvPr/>
        </p:nvSpPr>
        <p:spPr>
          <a:xfrm>
            <a:off x="5511835" y="3079746"/>
            <a:ext cx="1496294" cy="3080135"/>
          </a:xfrm>
          <a:prstGeom prst="can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法務</a:t>
            </a:r>
            <a:endParaRPr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b="1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ガバナンス強化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7" name="円柱 6">
            <a:extLst>
              <a:ext uri="{FF2B5EF4-FFF2-40B4-BE49-F238E27FC236}">
                <a16:creationId xmlns:a16="http://schemas.microsoft.com/office/drawing/2014/main" id="{D749E380-FA18-813E-F616-E64614817EAF}"/>
              </a:ext>
            </a:extLst>
          </p:cNvPr>
          <p:cNvSpPr/>
          <p:nvPr/>
        </p:nvSpPr>
        <p:spPr>
          <a:xfrm>
            <a:off x="9947560" y="3079745"/>
            <a:ext cx="1496294" cy="3080135"/>
          </a:xfrm>
          <a:prstGeom prst="can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業務基盤の整備</a:t>
            </a:r>
            <a:endParaRPr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b="1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IT・DX推進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8" name="円柱 7">
            <a:extLst>
              <a:ext uri="{FF2B5EF4-FFF2-40B4-BE49-F238E27FC236}">
                <a16:creationId xmlns:a16="http://schemas.microsoft.com/office/drawing/2014/main" id="{1F37C07D-00FA-3666-6EBC-BF5D038AF6EF}"/>
              </a:ext>
            </a:extLst>
          </p:cNvPr>
          <p:cNvSpPr/>
          <p:nvPr/>
        </p:nvSpPr>
        <p:spPr>
          <a:xfrm>
            <a:off x="3267394" y="3079747"/>
            <a:ext cx="1496294" cy="3080135"/>
          </a:xfrm>
          <a:prstGeom prst="can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企業文化</a:t>
            </a:r>
            <a:endParaRPr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</a:t>
            </a:r>
          </a:p>
          <a:p>
            <a:pPr algn="ctr"/>
            <a:r>
              <a:rPr lang="en-US" altLang="ja-JP" b="1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ブランディング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52B6024-111F-AB75-1CA1-0475238E0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7A2612-FA17-BDB2-C1A6-258FE5FC9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2FBFBBA-E26E-DB16-C1B4-13AD0414A3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EFD70C-834B-0375-71FD-8A8F80D54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2643" y="87551"/>
            <a:ext cx="9688296" cy="8289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【R100</a:t>
            </a:r>
            <a:r>
              <a:rPr lang="ja-JP" altLang="en-US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への</a:t>
            </a:r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VUC</a:t>
            </a:r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戦略のポイント</a:t>
            </a:r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endParaRPr lang="ja-JP" altLang="en-US" sz="2800" kern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91674-B7B0-7D13-336C-10637D567C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DAB589AD-2E84-5CF0-72BB-55B36B84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BCFBFE4-7190-4091-0EE7-9DDD83215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4" name="フローチャート: 代替処理 3">
            <a:extLst>
              <a:ext uri="{FF2B5EF4-FFF2-40B4-BE49-F238E27FC236}">
                <a16:creationId xmlns:a16="http://schemas.microsoft.com/office/drawing/2014/main" id="{ED3FF62D-2C25-620C-44A8-0A1BD7DC5262}"/>
              </a:ext>
            </a:extLst>
          </p:cNvPr>
          <p:cNvSpPr/>
          <p:nvPr/>
        </p:nvSpPr>
        <p:spPr>
          <a:xfrm>
            <a:off x="352425" y="1325666"/>
            <a:ext cx="3648973" cy="2118876"/>
          </a:xfrm>
          <a:prstGeom prst="flowChartAlternateProcess">
            <a:avLst/>
          </a:prstGeom>
          <a:ln w="571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①採用と</a:t>
            </a:r>
            <a:r>
              <a:rPr lang="en-US" altLang="ja-JP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M&amp;A</a:t>
            </a:r>
            <a:endParaRPr lang="ja-JP" altLang="en-US" sz="24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組織増強</a:t>
            </a:r>
            <a:endParaRPr kumimoji="1"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フローチャート: 代替処理 5">
            <a:extLst>
              <a:ext uri="{FF2B5EF4-FFF2-40B4-BE49-F238E27FC236}">
                <a16:creationId xmlns:a16="http://schemas.microsoft.com/office/drawing/2014/main" id="{2F7B3519-EDA6-F94B-9E57-B181EECF587E}"/>
              </a:ext>
            </a:extLst>
          </p:cNvPr>
          <p:cNvSpPr/>
          <p:nvPr/>
        </p:nvSpPr>
        <p:spPr>
          <a:xfrm>
            <a:off x="4260641" y="1325666"/>
            <a:ext cx="3648973" cy="2118876"/>
          </a:xfrm>
          <a:prstGeom prst="flowChartAlternateProcess">
            <a:avLst/>
          </a:prstGeom>
          <a:ln w="571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</a:t>
            </a:r>
            <a:r>
              <a:rPr lang="ja-JP" altLang="en-US" sz="2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リーダー・マネジメント</a:t>
            </a:r>
            <a:r>
              <a:rPr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候補育成</a:t>
            </a:r>
          </a:p>
        </p:txBody>
      </p:sp>
      <p:sp>
        <p:nvSpPr>
          <p:cNvPr id="7" name="フローチャート: 代替処理 6">
            <a:extLst>
              <a:ext uri="{FF2B5EF4-FFF2-40B4-BE49-F238E27FC236}">
                <a16:creationId xmlns:a16="http://schemas.microsoft.com/office/drawing/2014/main" id="{6772905A-84E8-79B6-79FA-9EF39C3ABEB2}"/>
              </a:ext>
            </a:extLst>
          </p:cNvPr>
          <p:cNvSpPr/>
          <p:nvPr/>
        </p:nvSpPr>
        <p:spPr>
          <a:xfrm>
            <a:off x="8238227" y="1325666"/>
            <a:ext cx="3648973" cy="2118876"/>
          </a:xfrm>
          <a:prstGeom prst="flowChartAlternateProcess">
            <a:avLst/>
          </a:prstGeom>
          <a:ln w="571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③専任人材を採用</a:t>
            </a:r>
          </a:p>
          <a:p>
            <a:pPr algn="ctr"/>
            <a:r>
              <a:rPr lang="en-US" altLang="ja-JP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VUC</a:t>
            </a:r>
            <a:r>
              <a:rPr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から順次独立</a:t>
            </a:r>
            <a:endParaRPr kumimoji="1"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フローチャート: 代替処理 7">
            <a:extLst>
              <a:ext uri="{FF2B5EF4-FFF2-40B4-BE49-F238E27FC236}">
                <a16:creationId xmlns:a16="http://schemas.microsoft.com/office/drawing/2014/main" id="{5276198A-8080-D1D9-7D4E-FDDA06CF2118}"/>
              </a:ext>
            </a:extLst>
          </p:cNvPr>
          <p:cNvSpPr/>
          <p:nvPr/>
        </p:nvSpPr>
        <p:spPr>
          <a:xfrm>
            <a:off x="2294627" y="3811044"/>
            <a:ext cx="3648973" cy="2118876"/>
          </a:xfrm>
          <a:prstGeom prst="flowChartAlternateProcess">
            <a:avLst/>
          </a:prstGeom>
          <a:ln w="571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④</a:t>
            </a:r>
            <a:r>
              <a:rPr lang="ja-JP" altLang="en-US" sz="20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エンゲージメント</a:t>
            </a:r>
            <a:r>
              <a:rPr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向上</a:t>
            </a:r>
          </a:p>
          <a:p>
            <a:pPr algn="ctr"/>
            <a:r>
              <a:rPr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組織に活力</a:t>
            </a:r>
            <a:endParaRPr kumimoji="1"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10" name="フローチャート: 代替処理 9">
            <a:extLst>
              <a:ext uri="{FF2B5EF4-FFF2-40B4-BE49-F238E27FC236}">
                <a16:creationId xmlns:a16="http://schemas.microsoft.com/office/drawing/2014/main" id="{C5028E5E-668B-BFEB-4F84-1F9F5B320BF1}"/>
              </a:ext>
            </a:extLst>
          </p:cNvPr>
          <p:cNvSpPr/>
          <p:nvPr/>
        </p:nvSpPr>
        <p:spPr>
          <a:xfrm>
            <a:off x="6248402" y="3818784"/>
            <a:ext cx="3648973" cy="2118876"/>
          </a:xfrm>
          <a:prstGeom prst="flowChartAlternateProcess">
            <a:avLst/>
          </a:prstGeom>
          <a:ln w="571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⑤システム基盤整備</a:t>
            </a:r>
          </a:p>
          <a:p>
            <a:pPr algn="ctr"/>
            <a:r>
              <a:rPr lang="ja-JP" altLang="en-US" sz="2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業務効率化</a:t>
            </a:r>
            <a:endParaRPr kumimoji="1" lang="ja-JP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08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C23942-EE2E-4BAB-64CC-129D3249D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CFFBDE6-4A43-D67C-C91A-B9B4054F4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64764B-FF46-E706-91F5-8FB510C4A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2643" y="87551"/>
            <a:ext cx="9688296" cy="8289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【R100</a:t>
            </a:r>
            <a:r>
              <a:rPr lang="ja-JP" altLang="en-US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への</a:t>
            </a:r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VUC</a:t>
            </a:r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戦略のポイント</a:t>
            </a:r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endParaRPr lang="ja-JP" altLang="en-US" sz="2800" kern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F389CF-616B-9D0E-579B-A3510A802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34023DC7-9550-36DC-3B8C-FA3004215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7F2610C-EE80-60B6-D463-506F71284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1FC03EC-4845-F81A-8AA5-7657A6D35A34}"/>
              </a:ext>
            </a:extLst>
          </p:cNvPr>
          <p:cNvSpPr txBox="1"/>
          <p:nvPr/>
        </p:nvSpPr>
        <p:spPr>
          <a:xfrm>
            <a:off x="657225" y="1196330"/>
            <a:ext cx="11229975" cy="48357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sz="2400" b="1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　採用と</a:t>
            </a:r>
            <a:r>
              <a:rPr lang="en-US" altLang="ja-JP" sz="2400" b="1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M&amp;A</a:t>
            </a:r>
            <a:r>
              <a:rPr lang="ja-JP" altLang="en-US" sz="2400" b="1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で組織増強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b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41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期は組織の核人材にこだわり採用　→　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42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期以降に未経験・微経験採用にも注力</a:t>
            </a: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新規事業創設に合わせてエンジニア以外職種も採用</a:t>
            </a: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高卒や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IT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スクール卒など多方向に若年層を獲得　→　若年採用の難易度は高い・手法にこだわらず攻める</a:t>
            </a: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海外展開を見据えて計画的な外国籍採用</a:t>
            </a: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M&amp;A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の準備と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PMI(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組織統合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	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sz="2400" b="1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　リーダー・マネジメント候補育成</a:t>
            </a:r>
            <a:b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年後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500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人の組織を想定すると、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10%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のリーダー・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M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層が必要　→　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年で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名を育成</a:t>
            </a: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78249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F78D06-DAA9-C398-E6F2-4457F5D62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9242642-657A-F1DB-8BC9-E1D51179C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7D924D-BC7D-0ABE-808D-6B0302B55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F8F961DD-86A0-F63E-24E2-3CD904332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6D7245E-2BDB-7059-8428-DBDC8672A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3DE2C4E-BDF3-27FD-0F00-B37021DC8753}"/>
              </a:ext>
            </a:extLst>
          </p:cNvPr>
          <p:cNvSpPr txBox="1">
            <a:spLocks/>
          </p:cNvSpPr>
          <p:nvPr/>
        </p:nvSpPr>
        <p:spPr>
          <a:xfrm>
            <a:off x="401470" y="291725"/>
            <a:ext cx="10515600" cy="1133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年度別人員計画（</a:t>
            </a:r>
            <a:r>
              <a:rPr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500</a:t>
            </a:r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名シナリオ）</a:t>
            </a:r>
            <a:r>
              <a:rPr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endParaRPr lang="ja-JP" altLang="en-US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BC5E0A2-34A3-C76A-A988-DD8DC5900F2A}"/>
              </a:ext>
            </a:extLst>
          </p:cNvPr>
          <p:cNvSpPr txBox="1"/>
          <p:nvPr/>
        </p:nvSpPr>
        <p:spPr>
          <a:xfrm>
            <a:off x="6581775" y="4178882"/>
            <a:ext cx="5464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※ </a:t>
            </a:r>
            <a:r>
              <a:rPr kumimoji="1" lang="ja-JP" altLang="en-US" dirty="0"/>
              <a:t>新卒・中途だけでなく、</a:t>
            </a:r>
            <a:r>
              <a:rPr kumimoji="1" lang="en-US" altLang="ja-JP" dirty="0"/>
              <a:t>M&amp;A</a:t>
            </a:r>
            <a:r>
              <a:rPr kumimoji="1" lang="ja-JP" altLang="en-US" dirty="0"/>
              <a:t>でも増強</a:t>
            </a:r>
            <a:br>
              <a:rPr kumimoji="1" lang="ja-JP" altLang="en-US" dirty="0"/>
            </a:br>
            <a:endParaRPr kumimoji="1" lang="ja-JP" altLang="en-US" dirty="0"/>
          </a:p>
          <a:p>
            <a:r>
              <a:rPr kumimoji="1" lang="en-US" altLang="ja-JP" dirty="0"/>
              <a:t>※M&amp;A</a:t>
            </a:r>
            <a:r>
              <a:rPr kumimoji="1" lang="ja-JP" altLang="en-US" dirty="0"/>
              <a:t>定着率を</a:t>
            </a:r>
            <a:r>
              <a:rPr kumimoji="1" lang="en-US" altLang="ja-JP" dirty="0"/>
              <a:t>70%</a:t>
            </a:r>
            <a:r>
              <a:rPr kumimoji="1" lang="ja-JP" altLang="en-US" dirty="0"/>
              <a:t>とみて、企業規模感を想定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F98C4F4-407B-C394-4AAE-443045B33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40098"/>
            <a:ext cx="5722986" cy="207803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23D9DA7D-0CDB-136B-E294-FF8AE5F36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88" y="1375582"/>
            <a:ext cx="5830114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144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2081E6-DEB4-C4C4-04F4-52A96D887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5A7F883-62E7-3157-1B7D-D9F19AB08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27224C-69E7-B394-1C26-29FD0210E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2643" y="87551"/>
            <a:ext cx="9688296" cy="8289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R100</a:t>
            </a:r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への</a:t>
            </a:r>
            <a:r>
              <a:rPr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VUC</a:t>
            </a:r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戦略のポイント</a:t>
            </a:r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endParaRPr lang="ja-JP" altLang="en-US" sz="2800" kern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565AF0-67B3-9E48-6C8E-12AB912E6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129F9F5F-D17A-05B0-3469-D543536E1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308C397-1809-AA60-F8E2-DEDBAA202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0DB6348-C301-B299-21DB-0C8513C7DFBC}"/>
              </a:ext>
            </a:extLst>
          </p:cNvPr>
          <p:cNvSpPr txBox="1"/>
          <p:nvPr/>
        </p:nvSpPr>
        <p:spPr>
          <a:xfrm>
            <a:off x="657225" y="1013742"/>
            <a:ext cx="11229975" cy="52065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sz="2400" b="1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　意思決定スピードを上げるため、専任人材を採用、</a:t>
            </a:r>
            <a:r>
              <a:rPr lang="en-US" altLang="ja-JP" sz="2400" b="1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VUC</a:t>
            </a:r>
            <a:r>
              <a:rPr lang="ja-JP" altLang="en-US" sz="2400" b="1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から順次独立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endParaRPr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b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・コーポレート人事　：　制度・採用ブランディング・全社共通職種採用・幹部採用	</a:t>
            </a:r>
          </a:p>
          <a:p>
            <a:pPr defTabSz="914400">
              <a:spcAft>
                <a:spcPts val="600"/>
              </a:spcAft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・事業部人事　　　　：　各事業部の人材戦略実行（採用・育成・組織作り・メンタル不全含むトラブル）</a:t>
            </a: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・財務　　　　　　　：　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M&amp;A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資金調達・子会社財務管理・経営企画機能・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IPO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見据えた内部統制</a:t>
            </a:r>
          </a:p>
          <a:p>
            <a:pPr defTabSz="914400">
              <a:spcAft>
                <a:spcPts val="600"/>
              </a:spcAft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・法務　　　　　　　：　契約多様化の</a:t>
            </a:r>
            <a:r>
              <a:rPr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リスクヘッジ・海外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展開準備のため国際契約対応</a:t>
            </a: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VUC-CS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 ：　社内システムの戦略的設計・セキュリティ・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DX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コンサルタント兼務</a:t>
            </a: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sz="2400" b="1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④　エンゲージメント向上で組織に活力を</a:t>
            </a:r>
            <a:r>
              <a:rPr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ポジティブ文化を醸成する仕掛け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M&amp;A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で異文化社員増、エンジニア以外の職種の社員増　→　行動指針を定めて確固たる社風を作る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東京オフィスを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フロアに　→　コミュニケーション阻害要因を排除		</a:t>
            </a:r>
          </a:p>
        </p:txBody>
      </p:sp>
    </p:spTree>
    <p:extLst>
      <p:ext uri="{BB962C8B-B14F-4D97-AF65-F5344CB8AC3E}">
        <p14:creationId xmlns:p14="http://schemas.microsoft.com/office/powerpoint/2010/main" val="707169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F86A72-28E1-0285-E8B4-0C63ADAD0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6FF4CA3-3F2B-5AE4-4486-08CDC006D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6BB7F8-507A-7924-336C-D3365C52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2643" y="87551"/>
            <a:ext cx="9688296" cy="8289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R100</a:t>
            </a:r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への</a:t>
            </a:r>
            <a:r>
              <a:rPr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VUC</a:t>
            </a:r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戦略のポイント</a:t>
            </a:r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endParaRPr lang="ja-JP" altLang="en-US" sz="2800" kern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711E44-F3F5-ADDB-2540-D31D3E5A2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FEC1793B-5666-882C-C8DC-EAC5EC7C0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67EA7CF-F0C6-893C-922B-98624B65D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9BBEF54-9569-5060-FEF7-B70BD922B607}"/>
              </a:ext>
            </a:extLst>
          </p:cNvPr>
          <p:cNvSpPr txBox="1"/>
          <p:nvPr/>
        </p:nvSpPr>
        <p:spPr>
          <a:xfrm>
            <a:off x="657225" y="1013742"/>
            <a:ext cx="11229975" cy="48357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sz="2400" b="1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⑤　</a:t>
            </a:r>
            <a:r>
              <a:rPr lang="en-US" altLang="ja-JP" sz="2400" b="1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ERP</a:t>
            </a:r>
            <a:r>
              <a:rPr lang="ja-JP" altLang="en-US" sz="2400" b="1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やセキュリティ体制などシステム基盤整備、業務効率化</a:t>
            </a:r>
            <a:b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社員数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300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人超になると、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SaaS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の組み合わせで業務フローを回すのに限界が来る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経営指標のリアルタイム化も見据えて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43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期めには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ERP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導入準備に入る</a:t>
            </a:r>
          </a:p>
        </p:txBody>
      </p:sp>
    </p:spTree>
    <p:extLst>
      <p:ext uri="{BB962C8B-B14F-4D97-AF65-F5344CB8AC3E}">
        <p14:creationId xmlns:p14="http://schemas.microsoft.com/office/powerpoint/2010/main" val="3598222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EFEBD6-FCF0-6ED9-55CA-336786CC5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D9F11C4-1A83-3EBD-A041-D56F346A2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5C47AD-4C0B-64C9-0F3E-B34748EE6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48B3AF7E-6A75-4597-A5E3-8717F3E6A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B888D5F-DA84-6322-E694-CF04C4854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7254AA-0FBF-6024-36FA-58EDF3A38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339"/>
            <a:ext cx="9688296" cy="6370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ja-JP" sz="24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ja-JP" altLang="en-US" sz="24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経営インフラを整えるロードマップ①</a:t>
            </a:r>
            <a:r>
              <a:rPr lang="en-US" altLang="ja-JP" sz="24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endParaRPr lang="ja-JP" altLang="en-US" sz="2400" kern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E0FAFC3-8E2E-1B1E-1EE6-47C0DCE5D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30" y="768442"/>
            <a:ext cx="11639909" cy="513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374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20B6F0-6931-6CB7-7E3B-B529A1C26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78678A0-439E-8EA4-8311-9A1B58A5B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81F1BC-B511-C536-76B4-DB6130841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4F1CC686-C6A0-ECDB-887A-16E75FC29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FF2F5B1-8556-AA4D-EB97-1B40F0075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3DD944-C3DE-8184-858B-FBBCD3EA6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339"/>
            <a:ext cx="9688296" cy="6370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ja-JP" sz="24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ja-JP" altLang="en-US" sz="24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経営インフラを整えるロードマップ②</a:t>
            </a:r>
            <a:r>
              <a:rPr lang="en-US" altLang="ja-JP" sz="24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endParaRPr lang="ja-JP" altLang="en-US" sz="2400" kern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74B51AB-31D4-FB8D-08C9-344DDAC97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31" y="802257"/>
            <a:ext cx="11469512" cy="525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518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ja-JP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41</a:t>
            </a:r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期の重要施策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7DA497C-CFB7-BA5E-9606-3CD3FC141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23BE23E9-B2A0-E6CF-9CF9-A9700D97B86F}"/>
              </a:ext>
            </a:extLst>
          </p:cNvPr>
          <p:cNvGrpSpPr/>
          <p:nvPr/>
        </p:nvGrpSpPr>
        <p:grpSpPr>
          <a:xfrm>
            <a:off x="838200" y="1920660"/>
            <a:ext cx="10683656" cy="4679837"/>
            <a:chOff x="1006764" y="1904218"/>
            <a:chExt cx="10178472" cy="4406868"/>
          </a:xfrm>
        </p:grpSpPr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A18B4741-D243-9B85-D173-05CF27B78DB3}"/>
                </a:ext>
              </a:extLst>
            </p:cNvPr>
            <p:cNvSpPr/>
            <p:nvPr/>
          </p:nvSpPr>
          <p:spPr>
            <a:xfrm>
              <a:off x="1006764" y="1904218"/>
              <a:ext cx="8943288" cy="698118"/>
            </a:xfrm>
            <a:custGeom>
              <a:avLst/>
              <a:gdLst>
                <a:gd name="connsiteX0" fmla="*/ 0 w 8943288"/>
                <a:gd name="connsiteY0" fmla="*/ 0 h 698118"/>
                <a:gd name="connsiteX1" fmla="*/ 8943288 w 8943288"/>
                <a:gd name="connsiteY1" fmla="*/ 0 h 698118"/>
                <a:gd name="connsiteX2" fmla="*/ 8943288 w 8943288"/>
                <a:gd name="connsiteY2" fmla="*/ 698118 h 698118"/>
                <a:gd name="connsiteX3" fmla="*/ 0 w 8943288"/>
                <a:gd name="connsiteY3" fmla="*/ 698118 h 698118"/>
                <a:gd name="connsiteX4" fmla="*/ 0 w 8943288"/>
                <a:gd name="connsiteY4" fmla="*/ 0 h 698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43288" h="698118">
                  <a:moveTo>
                    <a:pt x="0" y="0"/>
                  </a:moveTo>
                  <a:lnTo>
                    <a:pt x="8943288" y="0"/>
                  </a:lnTo>
                  <a:lnTo>
                    <a:pt x="8943288" y="698118"/>
                  </a:lnTo>
                  <a:lnTo>
                    <a:pt x="0" y="69811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8110" tIns="118110" rIns="118110" bIns="118110" numCol="1" spcCol="1270" anchor="t" anchorCtr="0">
              <a:noAutofit/>
            </a:bodyPr>
            <a:lstStyle/>
            <a:p>
              <a:pPr defTabSz="219456">
                <a:spcAft>
                  <a:spcPts val="600"/>
                </a:spcAft>
                <a:defRPr sz="1800">
                  <a:solidFill>
                    <a:srgbClr val="000000"/>
                  </a:solidFill>
                </a:defRPr>
              </a:pPr>
              <a:r>
                <a:rPr lang="ja-JP" altLang="en-US" sz="2400" b="1" kern="1200" dirty="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「成長基盤の整備」と「一体感のある組織」へ</a:t>
              </a:r>
              <a:endPara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0" name="直線コネクタ 9">
              <a:extLst>
                <a:ext uri="{FF2B5EF4-FFF2-40B4-BE49-F238E27FC236}">
                  <a16:creationId xmlns:a16="http://schemas.microsoft.com/office/drawing/2014/main" id="{521B69F9-8CD7-F3A1-9FB9-E7C137828A93}"/>
                </a:ext>
              </a:extLst>
            </p:cNvPr>
            <p:cNvSpPr/>
            <p:nvPr/>
          </p:nvSpPr>
          <p:spPr>
            <a:xfrm>
              <a:off x="2241948" y="2820494"/>
              <a:ext cx="8943288" cy="0"/>
            </a:xfrm>
            <a:prstGeom prst="line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 sz="240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5503AE0B-7DDF-A153-A1F1-B2073A566878}"/>
                </a:ext>
              </a:extLst>
            </p:cNvPr>
            <p:cNvSpPr/>
            <p:nvPr/>
          </p:nvSpPr>
          <p:spPr>
            <a:xfrm>
              <a:off x="2241948" y="2820494"/>
              <a:ext cx="8943288" cy="698118"/>
            </a:xfrm>
            <a:custGeom>
              <a:avLst/>
              <a:gdLst>
                <a:gd name="connsiteX0" fmla="*/ 0 w 8943288"/>
                <a:gd name="connsiteY0" fmla="*/ 0 h 698118"/>
                <a:gd name="connsiteX1" fmla="*/ 8943288 w 8943288"/>
                <a:gd name="connsiteY1" fmla="*/ 0 h 698118"/>
                <a:gd name="connsiteX2" fmla="*/ 8943288 w 8943288"/>
                <a:gd name="connsiteY2" fmla="*/ 698118 h 698118"/>
                <a:gd name="connsiteX3" fmla="*/ 0 w 8943288"/>
                <a:gd name="connsiteY3" fmla="*/ 698118 h 698118"/>
                <a:gd name="connsiteX4" fmla="*/ 0 w 8943288"/>
                <a:gd name="connsiteY4" fmla="*/ 0 h 698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43288" h="698118">
                  <a:moveTo>
                    <a:pt x="0" y="0"/>
                  </a:moveTo>
                  <a:lnTo>
                    <a:pt x="8943288" y="0"/>
                  </a:lnTo>
                  <a:lnTo>
                    <a:pt x="8943288" y="698118"/>
                  </a:lnTo>
                  <a:lnTo>
                    <a:pt x="0" y="69811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8110" tIns="118110" rIns="118110" bIns="118110" numCol="1" spcCol="1270" anchor="t" anchorCtr="0">
              <a:noAutofit/>
            </a:bodyPr>
            <a:lstStyle/>
            <a:p>
              <a:pPr defTabSz="661416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kern="1200" dirty="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1. </a:t>
              </a:r>
              <a:r>
                <a:rPr lang="ja-JP" altLang="en-US" sz="2400" kern="1200" dirty="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人事</a:t>
              </a:r>
              <a:r>
                <a:rPr lang="ja-JP" altLang="en-US" sz="24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　　</a:t>
              </a:r>
              <a:r>
                <a:rPr lang="en-US" altLang="ja-JP" sz="2400" kern="1200" dirty="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: </a:t>
              </a:r>
              <a:r>
                <a:rPr lang="ja-JP" altLang="en-US" sz="2400" kern="1200" dirty="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組織開発、質こだわり採用、次世代育成</a:t>
              </a:r>
            </a:p>
            <a:p>
              <a:pPr marL="0" lvl="0" indent="0" algn="l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400" kern="12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2" name="直線コネクタ 11">
              <a:extLst>
                <a:ext uri="{FF2B5EF4-FFF2-40B4-BE49-F238E27FC236}">
                  <a16:creationId xmlns:a16="http://schemas.microsoft.com/office/drawing/2014/main" id="{3339B820-2A19-6D50-9B95-BBAC5C61697A}"/>
                </a:ext>
              </a:extLst>
            </p:cNvPr>
            <p:cNvSpPr/>
            <p:nvPr/>
          </p:nvSpPr>
          <p:spPr>
            <a:xfrm>
              <a:off x="2241948" y="3518613"/>
              <a:ext cx="8943288" cy="0"/>
            </a:xfrm>
            <a:prstGeom prst="line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 sz="240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9BD88DB8-3E21-005F-97EE-CA9E32B1A419}"/>
                </a:ext>
              </a:extLst>
            </p:cNvPr>
            <p:cNvSpPr/>
            <p:nvPr/>
          </p:nvSpPr>
          <p:spPr>
            <a:xfrm>
              <a:off x="2241948" y="3518613"/>
              <a:ext cx="8943288" cy="698118"/>
            </a:xfrm>
            <a:custGeom>
              <a:avLst/>
              <a:gdLst>
                <a:gd name="connsiteX0" fmla="*/ 0 w 8943288"/>
                <a:gd name="connsiteY0" fmla="*/ 0 h 698118"/>
                <a:gd name="connsiteX1" fmla="*/ 8943288 w 8943288"/>
                <a:gd name="connsiteY1" fmla="*/ 0 h 698118"/>
                <a:gd name="connsiteX2" fmla="*/ 8943288 w 8943288"/>
                <a:gd name="connsiteY2" fmla="*/ 698118 h 698118"/>
                <a:gd name="connsiteX3" fmla="*/ 0 w 8943288"/>
                <a:gd name="connsiteY3" fmla="*/ 698118 h 698118"/>
                <a:gd name="connsiteX4" fmla="*/ 0 w 8943288"/>
                <a:gd name="connsiteY4" fmla="*/ 0 h 698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43288" h="698118">
                  <a:moveTo>
                    <a:pt x="0" y="0"/>
                  </a:moveTo>
                  <a:lnTo>
                    <a:pt x="8943288" y="0"/>
                  </a:lnTo>
                  <a:lnTo>
                    <a:pt x="8943288" y="698118"/>
                  </a:lnTo>
                  <a:lnTo>
                    <a:pt x="0" y="69811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8110" tIns="118110" rIns="118110" bIns="118110" numCol="1" spcCol="1270" anchor="t" anchorCtr="0">
              <a:noAutofit/>
            </a:bodyPr>
            <a:lstStyle/>
            <a:p>
              <a:pPr defTabSz="661416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kern="12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2.</a:t>
              </a:r>
              <a:r>
                <a:rPr lang="en-US" altLang="ja-JP" sz="2400" kern="12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 </a:t>
              </a:r>
              <a:r>
                <a:rPr lang="en-US" altLang="ja-JP" sz="2400" kern="1200" err="1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企業文化</a:t>
              </a:r>
              <a:r>
                <a:rPr lang="en-US" altLang="ja-JP" sz="2400" kern="12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 : </a:t>
              </a:r>
              <a:r>
                <a:rPr lang="ja-JP" altLang="en-US" sz="2400" kern="12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行動指針の策定と浸透</a:t>
              </a:r>
            </a:p>
            <a:p>
              <a:pPr marL="0" lvl="0" indent="0" algn="l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400" kern="120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4" name="直線コネクタ 13">
              <a:extLst>
                <a:ext uri="{FF2B5EF4-FFF2-40B4-BE49-F238E27FC236}">
                  <a16:creationId xmlns:a16="http://schemas.microsoft.com/office/drawing/2014/main" id="{6B613E39-E65D-C7D3-E373-B3DC4A8DB6FB}"/>
                </a:ext>
              </a:extLst>
            </p:cNvPr>
            <p:cNvSpPr/>
            <p:nvPr/>
          </p:nvSpPr>
          <p:spPr>
            <a:xfrm>
              <a:off x="2241948" y="4216731"/>
              <a:ext cx="8943288" cy="0"/>
            </a:xfrm>
            <a:prstGeom prst="line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 sz="240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991462E3-E884-9837-38BE-08D1B61E1122}"/>
                </a:ext>
              </a:extLst>
            </p:cNvPr>
            <p:cNvSpPr/>
            <p:nvPr/>
          </p:nvSpPr>
          <p:spPr>
            <a:xfrm>
              <a:off x="2241948" y="4216731"/>
              <a:ext cx="8943288" cy="698118"/>
            </a:xfrm>
            <a:custGeom>
              <a:avLst/>
              <a:gdLst>
                <a:gd name="connsiteX0" fmla="*/ 0 w 8943288"/>
                <a:gd name="connsiteY0" fmla="*/ 0 h 698118"/>
                <a:gd name="connsiteX1" fmla="*/ 8943288 w 8943288"/>
                <a:gd name="connsiteY1" fmla="*/ 0 h 698118"/>
                <a:gd name="connsiteX2" fmla="*/ 8943288 w 8943288"/>
                <a:gd name="connsiteY2" fmla="*/ 698118 h 698118"/>
                <a:gd name="connsiteX3" fmla="*/ 0 w 8943288"/>
                <a:gd name="connsiteY3" fmla="*/ 698118 h 698118"/>
                <a:gd name="connsiteX4" fmla="*/ 0 w 8943288"/>
                <a:gd name="connsiteY4" fmla="*/ 0 h 698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43288" h="698118">
                  <a:moveTo>
                    <a:pt x="0" y="0"/>
                  </a:moveTo>
                  <a:lnTo>
                    <a:pt x="8943288" y="0"/>
                  </a:lnTo>
                  <a:lnTo>
                    <a:pt x="8943288" y="698118"/>
                  </a:lnTo>
                  <a:lnTo>
                    <a:pt x="0" y="69811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8110" tIns="118110" rIns="118110" bIns="118110" numCol="1" spcCol="1270" anchor="t" anchorCtr="0">
              <a:noAutofit/>
            </a:bodyPr>
            <a:lstStyle/>
            <a:p>
              <a:pPr defTabSz="661416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kern="12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3. </a:t>
              </a:r>
              <a:r>
                <a:rPr lang="ja-JP" altLang="en-US" sz="2400" kern="12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法務総務</a:t>
              </a:r>
              <a:r>
                <a:rPr lang="en-US" altLang="ja-JP" sz="2400" kern="12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: PMI</a:t>
              </a:r>
              <a:r>
                <a:rPr lang="ja-JP" altLang="en-US" sz="2400" kern="12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、多様化する契約への対応</a:t>
              </a:r>
            </a:p>
            <a:p>
              <a:pPr marL="0" lvl="0" indent="0" algn="l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400" kern="120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8" name="直線コネクタ 17">
              <a:extLst>
                <a:ext uri="{FF2B5EF4-FFF2-40B4-BE49-F238E27FC236}">
                  <a16:creationId xmlns:a16="http://schemas.microsoft.com/office/drawing/2014/main" id="{57F081EB-72C8-9912-392D-13CC78EA9BA5}"/>
                </a:ext>
              </a:extLst>
            </p:cNvPr>
            <p:cNvSpPr/>
            <p:nvPr/>
          </p:nvSpPr>
          <p:spPr>
            <a:xfrm>
              <a:off x="2241948" y="4914849"/>
              <a:ext cx="8943288" cy="0"/>
            </a:xfrm>
            <a:prstGeom prst="line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 sz="240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0D85987B-A2C0-98AA-6C29-4D3061F9B1C1}"/>
                </a:ext>
              </a:extLst>
            </p:cNvPr>
            <p:cNvSpPr/>
            <p:nvPr/>
          </p:nvSpPr>
          <p:spPr>
            <a:xfrm>
              <a:off x="2241948" y="4914849"/>
              <a:ext cx="8943288" cy="698118"/>
            </a:xfrm>
            <a:custGeom>
              <a:avLst/>
              <a:gdLst>
                <a:gd name="connsiteX0" fmla="*/ 0 w 8943288"/>
                <a:gd name="connsiteY0" fmla="*/ 0 h 698118"/>
                <a:gd name="connsiteX1" fmla="*/ 8943288 w 8943288"/>
                <a:gd name="connsiteY1" fmla="*/ 0 h 698118"/>
                <a:gd name="connsiteX2" fmla="*/ 8943288 w 8943288"/>
                <a:gd name="connsiteY2" fmla="*/ 698118 h 698118"/>
                <a:gd name="connsiteX3" fmla="*/ 0 w 8943288"/>
                <a:gd name="connsiteY3" fmla="*/ 698118 h 698118"/>
                <a:gd name="connsiteX4" fmla="*/ 0 w 8943288"/>
                <a:gd name="connsiteY4" fmla="*/ 0 h 698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43288" h="698118">
                  <a:moveTo>
                    <a:pt x="0" y="0"/>
                  </a:moveTo>
                  <a:lnTo>
                    <a:pt x="8943288" y="0"/>
                  </a:lnTo>
                  <a:lnTo>
                    <a:pt x="8943288" y="698118"/>
                  </a:lnTo>
                  <a:lnTo>
                    <a:pt x="0" y="69811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8110" tIns="118110" rIns="118110" bIns="118110" numCol="1" spcCol="1270" anchor="t" anchorCtr="0">
              <a:noAutofit/>
            </a:bodyPr>
            <a:lstStyle/>
            <a:p>
              <a:pPr defTabSz="661416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kern="1200" dirty="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4. </a:t>
              </a:r>
              <a:r>
                <a:rPr lang="ja-JP" altLang="en-US" sz="2400" kern="1200" dirty="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財務　　</a:t>
              </a:r>
              <a:r>
                <a:rPr lang="en-US" altLang="ja-JP" sz="2400" kern="1200" dirty="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: M&amp;A</a:t>
              </a:r>
              <a:r>
                <a:rPr lang="ja-JP" altLang="en-US" sz="2400" kern="1200" dirty="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資金調達</a:t>
              </a:r>
            </a:p>
            <a:p>
              <a:pPr marL="0" lvl="0" indent="0" algn="l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400" kern="12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0" name="直線コネクタ 19">
              <a:extLst>
                <a:ext uri="{FF2B5EF4-FFF2-40B4-BE49-F238E27FC236}">
                  <a16:creationId xmlns:a16="http://schemas.microsoft.com/office/drawing/2014/main" id="{804A215E-5D2A-6749-2D80-8FFFE3A402E0}"/>
                </a:ext>
              </a:extLst>
            </p:cNvPr>
            <p:cNvSpPr/>
            <p:nvPr/>
          </p:nvSpPr>
          <p:spPr>
            <a:xfrm>
              <a:off x="2241948" y="5612968"/>
              <a:ext cx="8943288" cy="0"/>
            </a:xfrm>
            <a:prstGeom prst="line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 sz="240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96814D3B-D7EC-6F7E-385D-158A91CE72D8}"/>
                </a:ext>
              </a:extLst>
            </p:cNvPr>
            <p:cNvSpPr/>
            <p:nvPr/>
          </p:nvSpPr>
          <p:spPr>
            <a:xfrm>
              <a:off x="2241948" y="5612968"/>
              <a:ext cx="8943288" cy="698118"/>
            </a:xfrm>
            <a:custGeom>
              <a:avLst/>
              <a:gdLst>
                <a:gd name="connsiteX0" fmla="*/ 0 w 8943288"/>
                <a:gd name="connsiteY0" fmla="*/ 0 h 698118"/>
                <a:gd name="connsiteX1" fmla="*/ 8943288 w 8943288"/>
                <a:gd name="connsiteY1" fmla="*/ 0 h 698118"/>
                <a:gd name="connsiteX2" fmla="*/ 8943288 w 8943288"/>
                <a:gd name="connsiteY2" fmla="*/ 698118 h 698118"/>
                <a:gd name="connsiteX3" fmla="*/ 0 w 8943288"/>
                <a:gd name="connsiteY3" fmla="*/ 698118 h 698118"/>
                <a:gd name="connsiteX4" fmla="*/ 0 w 8943288"/>
                <a:gd name="connsiteY4" fmla="*/ 0 h 698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43288" h="698118">
                  <a:moveTo>
                    <a:pt x="0" y="0"/>
                  </a:moveTo>
                  <a:lnTo>
                    <a:pt x="8943288" y="0"/>
                  </a:lnTo>
                  <a:lnTo>
                    <a:pt x="8943288" y="698118"/>
                  </a:lnTo>
                  <a:lnTo>
                    <a:pt x="0" y="69811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8110" tIns="118110" rIns="118110" bIns="118110" numCol="1" spcCol="1270" anchor="t" anchorCtr="0">
              <a:noAutofit/>
            </a:bodyPr>
            <a:lstStyle/>
            <a:p>
              <a:pPr defTabSz="661416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kern="12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5. </a:t>
              </a:r>
              <a:r>
                <a:rPr lang="ja-JP" altLang="en-US" sz="2400" kern="12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業務基盤</a:t>
              </a:r>
              <a:r>
                <a:rPr lang="en-US" altLang="ja-JP" sz="2400" kern="12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:</a:t>
              </a:r>
              <a:r>
                <a:rPr lang="en-US" altLang="ja-JP" sz="2400" kern="120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 SharePoint</a:t>
              </a:r>
              <a:r>
                <a:rPr lang="ja-JP" altLang="en-US" sz="2400" kern="1200">
                  <a:solidFill>
                    <a:srgbClr val="00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活用、セキュリティ強化、東京移転調査</a:t>
              </a:r>
              <a:endParaRPr lang="en-US" sz="2400" kern="120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9FD1E4-CEC3-E8DF-DEFF-A0D9B48AF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01FC784-7915-18F5-1C2B-EE19A6660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B474D1-052D-CD05-ACAE-FC5E3B236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ja-JP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41</a:t>
            </a:r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期 人事・組織開発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5978E955-1A1C-DC9D-953E-4515141D7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E225B-5B68-D340-2386-6DB7B8EFE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861"/>
            <a:ext cx="10515600" cy="4840489"/>
          </a:xfrm>
        </p:spPr>
        <p:txBody>
          <a:bodyPr>
            <a:normAutofit/>
          </a:bodyPr>
          <a:lstStyle/>
          <a:p>
            <a:endParaRPr lang="ja-JP" altLang="en-US" sz="2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人事強化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: CHRO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候補を採用、採用担当者を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名採用</a:t>
            </a: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lang="ja-JP" altLang="en-US" sz="2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組織開発：次世代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M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職候補育成</a:t>
            </a: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lang="ja-JP" altLang="en-US" sz="2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人材計画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新卒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8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名、中途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30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名</a:t>
            </a: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∟ </a:t>
            </a:r>
            <a:r>
              <a:rPr lang="ja-JP" altLang="en-US" sz="2200" b="1" dirty="0">
                <a:solidFill>
                  <a:schemeClr val="accent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組織の核となる人材採用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リーダー・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PM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候補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にこだわる</a:t>
            </a: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∟ 各部門のペルソナ再設計</a:t>
            </a: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　早期離脱防止のため　スキル重視⇒カルチャーフィット重視へ</a:t>
            </a: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lang="ja-JP" altLang="en-US" sz="2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∟ オウンドメディア採用を目標に、採用ブランディングの下地作り</a:t>
            </a: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lang="ja-JP" altLang="en-US" sz="22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8A043F-BC72-4377-49AD-3E0F1DBB9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D174C86-8E40-46C6-B726-78ED0990CEE8}"/>
              </a:ext>
            </a:extLst>
          </p:cNvPr>
          <p:cNvSpPr/>
          <p:nvPr/>
        </p:nvSpPr>
        <p:spPr>
          <a:xfrm>
            <a:off x="1588655" y="5922887"/>
            <a:ext cx="9280236" cy="59497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42</a:t>
            </a:r>
            <a:r>
              <a:rPr lang="ja-JP" altLang="en-US" sz="2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期以降に経験者・新卒・微経験・未経験採用で組織拡大を加速</a:t>
            </a:r>
            <a:endParaRPr kumimoji="1" lang="ja-JP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796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7FAD06-F74A-CA64-B276-542EB9817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D99F8FB-9973-1D4C-CF83-E676DA52F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6500C8-5409-C22E-D0FC-F6DE7531A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ja-JP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41</a:t>
            </a:r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期 企業文化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992DE14D-0452-4EA2-7AE5-A4EF501B8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D9169-B782-BCC1-EE93-2E4D0A6BF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2113264"/>
            <a:ext cx="10515600" cy="4563491"/>
          </a:xfrm>
        </p:spPr>
        <p:txBody>
          <a:bodyPr>
            <a:normAutofit/>
          </a:bodyPr>
          <a:lstStyle/>
          <a:p>
            <a:endParaRPr lang="ja-JP" altLang="en-US" sz="2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ja-JP" altLang="en-US" sz="2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ポジティブ文化を醸成　</a:t>
            </a:r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→　日常活動でポジティブになる仕掛けを導入</a:t>
            </a:r>
            <a:b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　　　　　　　ポジティブ評価制度の導入　　</a:t>
            </a:r>
            <a:b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lang="ja-JP" altLang="en-US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ja-JP" altLang="en-US" sz="2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オンボーディング教育の充実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新卒・中途社員、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M&amp;A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社員の定着支援</a:t>
            </a:r>
          </a:p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lang="ja-JP" altLang="en-US" sz="2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行動指針の策定と浸透</a:t>
            </a: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：</a:t>
            </a:r>
            <a:endParaRPr lang="ja-JP" altLang="en-US" sz="2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endParaRPr lang="ja-JP" altLang="en-US" sz="2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EA975D1-39C7-6CAE-528D-1493A6AECCE3}"/>
              </a:ext>
            </a:extLst>
          </p:cNvPr>
          <p:cNvSpPr/>
          <p:nvPr/>
        </p:nvSpPr>
        <p:spPr>
          <a:xfrm>
            <a:off x="4647198" y="4677205"/>
            <a:ext cx="5447145" cy="56439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コムシンク</a:t>
            </a:r>
            <a:r>
              <a:rPr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BOOK</a:t>
            </a:r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の作成・浸透</a:t>
            </a:r>
            <a:endParaRPr kumimoji="1" lang="ja-JP" altLang="en-US" sz="280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0439D9-4B49-C908-A20B-24D3EAA33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327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ja-JP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41</a:t>
            </a:r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期 法務・総務施策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lnSpcReduction="10000"/>
          </a:bodyPr>
          <a:lstStyle/>
          <a:p>
            <a:endParaRPr lang="ja-JP" altLang="en-US" sz="2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多様化する契約形態への対応　→　準委任・請負・派遣だけではない</a:t>
            </a: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　　　　　　　　　　　契約書のテンプレ化</a:t>
            </a: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lang="ja-JP" altLang="en-US" sz="2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  <a:defRPr sz="1800">
                <a:solidFill>
                  <a:srgbClr val="000000"/>
                </a:solidFill>
              </a:defRPr>
            </a:pP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PMI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：登記・顧客契約の再手続き</a:t>
            </a: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社員との新たな雇用契約</a:t>
            </a: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就業規則含む社内規定の統合</a:t>
            </a: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社内制度・手当支給基準などの統合</a:t>
            </a: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人事制度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等級制度・人事考課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の統合</a:t>
            </a: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稟議フローなど業務プロセスの統合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525AD93-92B0-82DD-D460-5547B16FB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ja-JP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41</a:t>
            </a:r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期 財務施策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endParaRPr lang="ja-JP" altLang="en-US" sz="2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00000"/>
              </a:lnSpc>
              <a:defRPr sz="1800">
                <a:solidFill>
                  <a:srgbClr val="000000"/>
                </a:solidFill>
              </a:defRPr>
            </a:pP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CFO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採用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財務部門のリーダー確保　⇒　非常勤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CFO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を採用</a:t>
            </a: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b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r>
              <a:rPr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外部リソースを使ってでも達成すべきこと</a:t>
            </a:r>
            <a:r>
              <a:rPr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b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・銀行への融資交渉</a:t>
            </a:r>
            <a:b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・子会社管理の仕組みづくり</a:t>
            </a:r>
            <a:b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・グループ全体の予算編成・予実管理プロセス整備</a:t>
            </a:r>
            <a:br>
              <a:rPr lang="en-US" altLang="ja-JP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             </a:t>
            </a:r>
            <a: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IPO</a:t>
            </a:r>
            <a:r>
              <a:rPr lang="ja-JP" altLang="en-US" sz="1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事前準備　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　</a:t>
            </a: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lang="ja-JP" altLang="en-US" sz="2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資金調達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銀行連携による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M&amp;A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資金調達</a:t>
            </a: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lang="ja-JP" altLang="en-US" sz="2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子会社管理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: 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管理体制構築／管理会計の統合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13F824-CECB-E52C-2DB6-46C10B77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ja-JP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41</a:t>
            </a:r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期 業務基盤の整備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CD930F0-9958-A208-DA2D-0B59DA929264}"/>
              </a:ext>
            </a:extLst>
          </p:cNvPr>
          <p:cNvSpPr txBox="1">
            <a:spLocks/>
          </p:cNvSpPr>
          <p:nvPr/>
        </p:nvSpPr>
        <p:spPr>
          <a:xfrm>
            <a:off x="990600" y="1732237"/>
            <a:ext cx="10515600" cy="487887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sz="2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ja-JP" altLang="en-US" sz="2200" b="1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社内</a:t>
            </a:r>
            <a:r>
              <a:rPr lang="en-US" altLang="ja-JP" sz="2200" b="1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DX</a:t>
            </a:r>
          </a:p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SharePoint</a:t>
            </a:r>
            <a: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活用し、ファイル共有</a:t>
            </a:r>
            <a:r>
              <a:rPr lang="en-US" altLang="ja-JP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利用を高セキュリティで促進→</a:t>
            </a:r>
            <a:r>
              <a:rPr lang="en-US" altLang="ja-JP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Teams</a:t>
            </a:r>
            <a: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使い倒し</a:t>
            </a:r>
            <a:b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b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楽楽販売の導入、運用サポートの実施</a:t>
            </a:r>
            <a:b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ja-JP" altLang="en-US" sz="2200" b="1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システム統合</a:t>
            </a:r>
            <a:endParaRPr lang="en-US" altLang="ja-JP" sz="2200" b="1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Font typeface="Arial" panose="020B0604020202020204" pitchFamily="34" charset="0"/>
              <a:buNone/>
              <a:defRPr sz="1800">
                <a:solidFill>
                  <a:srgbClr val="000000"/>
                </a:solidFill>
              </a:defRPr>
            </a:pPr>
            <a: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M&amp;A</a:t>
            </a:r>
            <a: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後に発生する</a:t>
            </a:r>
            <a:r>
              <a:rPr lang="en-US" altLang="ja-JP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サイトやサブドメインサイト等をコムシンク環境に統合</a:t>
            </a:r>
            <a:endParaRPr lang="en-US" altLang="ja-JP" sz="2200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Font typeface="Arial" panose="020B0604020202020204" pitchFamily="34" charset="0"/>
              <a:buNone/>
              <a:defRPr sz="1800">
                <a:solidFill>
                  <a:srgbClr val="000000"/>
                </a:solidFill>
              </a:defRPr>
            </a:pPr>
            <a: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　→上記が可能なキャパシティ</a:t>
            </a:r>
            <a:r>
              <a:rPr lang="en-US" altLang="ja-JP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拡張性を持ったソリューションを選定、実装</a:t>
            </a:r>
            <a:b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lang="en-US" altLang="ja-JP" sz="2200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ja-JP" altLang="en-US" sz="2200" b="1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セキュリティ強化</a:t>
            </a:r>
            <a:endParaRPr lang="en-US" altLang="ja-JP" sz="2200" b="1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Font typeface="Arial" panose="020B0604020202020204" pitchFamily="34" charset="0"/>
              <a:buNone/>
              <a:defRPr sz="1800">
                <a:solidFill>
                  <a:srgbClr val="000000"/>
                </a:solidFill>
              </a:defRPr>
            </a:pPr>
            <a: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セキュアかつ利便性の高い開発基盤構築</a:t>
            </a:r>
            <a: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、クラウドバックアップ製品導入、</a:t>
            </a:r>
            <a:endParaRPr lang="en-US" altLang="ja-JP" sz="2200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Font typeface="Arial" panose="020B0604020202020204" pitchFamily="34" charset="0"/>
              <a:buNone/>
              <a:defRPr sz="1800">
                <a:solidFill>
                  <a:srgbClr val="000000"/>
                </a:solidFill>
              </a:defRPr>
            </a:pPr>
            <a: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Win11</a:t>
            </a:r>
            <a: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アップデート実施</a:t>
            </a:r>
            <a:b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lang="en-US" altLang="ja-JP" sz="2200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ja-JP" altLang="en-US" sz="2200" b="1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東京オフィスを</a:t>
            </a:r>
            <a:r>
              <a:rPr lang="en-US" altLang="ja-JP" sz="2200" b="1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2200" b="1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フロア化</a:t>
            </a:r>
            <a:endParaRPr lang="en-US" altLang="ja-JP" sz="2200" b="1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コミュニケーションを阻害している</a:t>
            </a:r>
            <a:r>
              <a:rPr lang="en-US" altLang="ja-JP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室分離を解消、</a:t>
            </a:r>
            <a:r>
              <a:rPr lang="en-US" altLang="ja-JP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フロアが叶うオフィスに移転</a:t>
            </a:r>
            <a:b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b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 システムを中心に必要要件のとりまとめ、案件候補調査、現契約の確認</a:t>
            </a:r>
            <a:br>
              <a:rPr lang="ja-JP" altLang="en-US" sz="22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lang="en-US" altLang="ja-JP" sz="2200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9C0E413-610F-1995-8881-D1109BF06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39AB85-EAD5-74DF-0A19-A492794A6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CDE5486-4048-EA83-496C-7C76B34F9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919717-152F-0245-8147-A9C9173A4F4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7313"/>
            <a:ext cx="9688513" cy="8286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ja-JP" sz="2800" b="1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en-US" altLang="ja-JP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41</a:t>
            </a:r>
            <a:r>
              <a:rPr lang="ja-JP" altLang="en-US" sz="2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期施策のロードマップ</a:t>
            </a:r>
            <a:r>
              <a:rPr lang="en-US" altLang="ja-JP" sz="2800" b="1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endParaRPr lang="ja-JP" altLang="en-US" sz="2800" b="1" kern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9" name="表 11">
            <a:extLst>
              <a:ext uri="{FF2B5EF4-FFF2-40B4-BE49-F238E27FC236}">
                <a16:creationId xmlns:a16="http://schemas.microsoft.com/office/drawing/2014/main" id="{554A751F-7940-3808-3120-1AC994F59C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148956"/>
              </p:ext>
            </p:extLst>
          </p:nvPr>
        </p:nvGraphicFramePr>
        <p:xfrm>
          <a:off x="306482" y="1468263"/>
          <a:ext cx="11377263" cy="4904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0175">
                  <a:extLst>
                    <a:ext uri="{9D8B030D-6E8A-4147-A177-3AD203B41FA5}">
                      <a16:colId xmlns:a16="http://schemas.microsoft.com/office/drawing/2014/main" val="2583696753"/>
                    </a:ext>
                  </a:extLst>
                </a:gridCol>
                <a:gridCol w="1173192">
                  <a:extLst>
                    <a:ext uri="{9D8B030D-6E8A-4147-A177-3AD203B41FA5}">
                      <a16:colId xmlns:a16="http://schemas.microsoft.com/office/drawing/2014/main" val="3090351246"/>
                    </a:ext>
                  </a:extLst>
                </a:gridCol>
                <a:gridCol w="8793896">
                  <a:extLst>
                    <a:ext uri="{9D8B030D-6E8A-4147-A177-3AD203B41FA5}">
                      <a16:colId xmlns:a16="http://schemas.microsoft.com/office/drawing/2014/main" val="4038615858"/>
                    </a:ext>
                  </a:extLst>
                </a:gridCol>
              </a:tblGrid>
              <a:tr h="1226175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kumimoji="1" lang="ja-JP" altLang="en-US" sz="16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人事</a:t>
                      </a: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kumimoji="1" lang="ja-JP" altLang="en-US" sz="16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組織開発</a:t>
                      </a:r>
                    </a:p>
                  </a:txBody>
                  <a:tcPr marL="180000" marR="180000" marT="180000" marB="180000" anchor="ctr">
                    <a:lnL w="12700" cmpd="sng">
                      <a:noFill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kumimoji="1" lang="ja-JP" altLang="en-US" sz="16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核人材</a:t>
                      </a: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kumimoji="1" lang="en-US" altLang="ja-JP" sz="16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M</a:t>
                      </a:r>
                      <a:r>
                        <a:rPr kumimoji="1" lang="ja-JP" altLang="en-US" sz="16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職育成</a:t>
                      </a:r>
                    </a:p>
                  </a:txBody>
                  <a:tcPr marL="180000" marR="180000" marT="180000" marB="180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endParaRPr kumimoji="1" lang="en-US" altLang="ja-JP" sz="1200" dirty="0">
                        <a:latin typeface="+mn-ea"/>
                        <a:ea typeface="+mn-ea"/>
                      </a:endParaRPr>
                    </a:p>
                  </a:txBody>
                  <a:tcPr marL="180000" marR="180000" marT="180000" marB="180000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770025"/>
                  </a:ext>
                </a:extLst>
              </a:tr>
              <a:tr h="1226175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kumimoji="1" lang="ja-JP" altLang="en-US" sz="16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企業文化</a:t>
                      </a:r>
                    </a:p>
                  </a:txBody>
                  <a:tcPr marL="180000" marR="180000" marT="180000" marB="180000" anchor="ctr">
                    <a:lnL w="12700" cmpd="sng">
                      <a:noFill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kumimoji="1" lang="ja-JP" altLang="en-US" sz="16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ポジティブ文化</a:t>
                      </a:r>
                    </a:p>
                  </a:txBody>
                  <a:tcPr marL="180000" marR="180000" marT="180000" marB="180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endParaRPr kumimoji="1" lang="ja-JP" altLang="en-US" sz="1200" dirty="0">
                        <a:latin typeface="+mn-ea"/>
                        <a:ea typeface="+mn-ea"/>
                      </a:endParaRPr>
                    </a:p>
                  </a:txBody>
                  <a:tcPr marL="180000" marR="180000" marT="180000" marB="180000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09292"/>
                  </a:ext>
                </a:extLst>
              </a:tr>
              <a:tr h="1226175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kumimoji="1" lang="ja-JP" altLang="en-US" sz="16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総務・法務</a:t>
                      </a: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kumimoji="1" lang="ja-JP" altLang="en-US" sz="16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財務</a:t>
                      </a:r>
                    </a:p>
                  </a:txBody>
                  <a:tcPr marL="180000" marR="180000" marT="180000" marB="180000" anchor="ctr">
                    <a:lnL w="12700" cmpd="sng">
                      <a:noFill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kumimoji="1" lang="en-US" altLang="ja-JP" sz="16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M&amp;A</a:t>
                      </a:r>
                      <a:br>
                        <a:rPr kumimoji="1" lang="en-US" altLang="ja-JP" sz="16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</a:br>
                      <a:r>
                        <a:rPr kumimoji="1" lang="en-US" altLang="ja-JP" sz="16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PMI</a:t>
                      </a:r>
                      <a:endParaRPr kumimoji="1" lang="ja-JP" altLang="en-US" sz="1600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80000" marR="180000" marT="180000" marB="180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endParaRPr kumimoji="1" lang="ja-JP" altLang="en-US" sz="1200" dirty="0">
                        <a:latin typeface="+mn-ea"/>
                        <a:ea typeface="+mn-ea"/>
                      </a:endParaRPr>
                    </a:p>
                  </a:txBody>
                  <a:tcPr marL="180000" marR="180000" marT="180000" marB="180000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43034"/>
                  </a:ext>
                </a:extLst>
              </a:tr>
              <a:tr h="1226175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kumimoji="1" lang="ja-JP" altLang="en-US" sz="16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業務基盤</a:t>
                      </a:r>
                    </a:p>
                  </a:txBody>
                  <a:tcPr marL="180000" marR="180000" marT="180000" marB="180000" anchor="ctr">
                    <a:lnL w="12700" cmpd="sng">
                      <a:noFill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kumimoji="1" lang="ja-JP" altLang="en-US" sz="16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社内</a:t>
                      </a:r>
                      <a:r>
                        <a:rPr kumimoji="1" lang="en-US" altLang="ja-JP" sz="16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DX</a:t>
                      </a: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600"/>
                        </a:spcAft>
                      </a:pPr>
                      <a:r>
                        <a:rPr kumimoji="1" lang="ja-JP" altLang="en-US" sz="16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+mn-ea"/>
                          <a:ea typeface="+mn-ea"/>
                        </a:rPr>
                        <a:t>ｵﾌｨｽ環境</a:t>
                      </a:r>
                      <a:endParaRPr kumimoji="1" lang="en-US" altLang="ja-JP" sz="1600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80000" marR="180000" marT="180000" marB="18000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3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endParaRPr kumimoji="1" lang="ja-JP" altLang="en-US" sz="1200" dirty="0">
                        <a:latin typeface="+mn-ea"/>
                        <a:ea typeface="+mn-ea"/>
                      </a:endParaRPr>
                    </a:p>
                  </a:txBody>
                  <a:tcPr marL="180000" marR="180000" marT="180000" marB="180000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087168"/>
                  </a:ext>
                </a:extLst>
              </a:tr>
            </a:tbl>
          </a:graphicData>
        </a:graphic>
      </p:graphicFrame>
      <p:sp>
        <p:nvSpPr>
          <p:cNvPr id="11" name="矢印: 五方向 10">
            <a:extLst>
              <a:ext uri="{FF2B5EF4-FFF2-40B4-BE49-F238E27FC236}">
                <a16:creationId xmlns:a16="http://schemas.microsoft.com/office/drawing/2014/main" id="{569CFA79-510C-0F4D-E893-E0538D61504A}"/>
              </a:ext>
            </a:extLst>
          </p:cNvPr>
          <p:cNvSpPr/>
          <p:nvPr/>
        </p:nvSpPr>
        <p:spPr>
          <a:xfrm>
            <a:off x="5276046" y="4604891"/>
            <a:ext cx="4256143" cy="348519"/>
          </a:xfrm>
          <a:prstGeom prst="homePlate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</a:ln>
          <a:effectLst>
            <a:outerShdw blurRad="127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kumimoji="1" lang="en-US" altLang="ja-JP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PMI</a:t>
            </a:r>
            <a:endParaRPr kumimoji="1" lang="ja-JP" altLang="en-US" sz="1200" dirty="0">
              <a:solidFill>
                <a:schemeClr val="tx2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矢印: 五方向 11">
            <a:extLst>
              <a:ext uri="{FF2B5EF4-FFF2-40B4-BE49-F238E27FC236}">
                <a16:creationId xmlns:a16="http://schemas.microsoft.com/office/drawing/2014/main" id="{4CA62AB0-6CE2-C24B-8BF0-B4A3698FE92C}"/>
              </a:ext>
            </a:extLst>
          </p:cNvPr>
          <p:cNvSpPr/>
          <p:nvPr/>
        </p:nvSpPr>
        <p:spPr>
          <a:xfrm>
            <a:off x="9594788" y="936380"/>
            <a:ext cx="2042657" cy="459876"/>
          </a:xfrm>
          <a:prstGeom prst="homePlate">
            <a:avLst>
              <a:gd name="adj" fmla="val 31551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80000"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en-US" altLang="ja-JP" dirty="0">
                <a:solidFill>
                  <a:schemeClr val="bg1"/>
                </a:solidFill>
              </a:rPr>
              <a:t>4Q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56D8FBAF-A042-05FB-0A1E-6A561664289C}"/>
              </a:ext>
            </a:extLst>
          </p:cNvPr>
          <p:cNvSpPr/>
          <p:nvPr/>
        </p:nvSpPr>
        <p:spPr>
          <a:xfrm>
            <a:off x="7359167" y="936380"/>
            <a:ext cx="2087506" cy="459876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80000"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en-US" altLang="ja-JP" dirty="0">
                <a:solidFill>
                  <a:schemeClr val="bg1"/>
                </a:solidFill>
              </a:rPr>
              <a:t>3Q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0E1A0E76-C4CA-3476-5B77-FB4E9C35747B}"/>
              </a:ext>
            </a:extLst>
          </p:cNvPr>
          <p:cNvSpPr/>
          <p:nvPr/>
        </p:nvSpPr>
        <p:spPr>
          <a:xfrm>
            <a:off x="2970779" y="962956"/>
            <a:ext cx="2087506" cy="45987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80000"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en-US" altLang="ja-JP" dirty="0">
                <a:solidFill>
                  <a:schemeClr val="bg1"/>
                </a:solidFill>
              </a:rPr>
              <a:t>1Q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6" name="矢印: 五方向 15">
            <a:extLst>
              <a:ext uri="{FF2B5EF4-FFF2-40B4-BE49-F238E27FC236}">
                <a16:creationId xmlns:a16="http://schemas.microsoft.com/office/drawing/2014/main" id="{2FB9E500-72E7-4C8F-69FF-56C7E8556557}"/>
              </a:ext>
            </a:extLst>
          </p:cNvPr>
          <p:cNvSpPr/>
          <p:nvPr/>
        </p:nvSpPr>
        <p:spPr>
          <a:xfrm>
            <a:off x="3071004" y="1889958"/>
            <a:ext cx="2898872" cy="348519"/>
          </a:xfrm>
          <a:prstGeom prst="homePlate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</a:ln>
          <a:effectLst>
            <a:outerShdw blurRad="127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kumimoji="1" lang="en-US" altLang="ja-JP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CHRO</a:t>
            </a:r>
            <a:r>
              <a:rPr kumimoji="1" lang="ja-JP" altLang="en-US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採用</a:t>
            </a:r>
          </a:p>
        </p:txBody>
      </p:sp>
      <p:sp>
        <p:nvSpPr>
          <p:cNvPr id="18" name="矢印: 五方向 17">
            <a:extLst>
              <a:ext uri="{FF2B5EF4-FFF2-40B4-BE49-F238E27FC236}">
                <a16:creationId xmlns:a16="http://schemas.microsoft.com/office/drawing/2014/main" id="{72D88857-F727-B4B0-FC83-44F3B9CFD6BD}"/>
              </a:ext>
            </a:extLst>
          </p:cNvPr>
          <p:cNvSpPr/>
          <p:nvPr/>
        </p:nvSpPr>
        <p:spPr>
          <a:xfrm>
            <a:off x="5221726" y="2279028"/>
            <a:ext cx="1964629" cy="348519"/>
          </a:xfrm>
          <a:prstGeom prst="homePlate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</a:ln>
          <a:effectLst>
            <a:outerShdw blurRad="127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kumimoji="1" lang="en-US" altLang="ja-JP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M</a:t>
            </a:r>
            <a:r>
              <a:rPr kumimoji="1" lang="ja-JP" altLang="en-US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職候補育成企画</a:t>
            </a:r>
          </a:p>
        </p:txBody>
      </p:sp>
      <p:sp>
        <p:nvSpPr>
          <p:cNvPr id="21" name="矢印: 五方向 20">
            <a:extLst>
              <a:ext uri="{FF2B5EF4-FFF2-40B4-BE49-F238E27FC236}">
                <a16:creationId xmlns:a16="http://schemas.microsoft.com/office/drawing/2014/main" id="{E8C264DF-FDB9-BB0C-28E3-36A887EC7110}"/>
              </a:ext>
            </a:extLst>
          </p:cNvPr>
          <p:cNvSpPr/>
          <p:nvPr/>
        </p:nvSpPr>
        <p:spPr>
          <a:xfrm>
            <a:off x="4014532" y="2962996"/>
            <a:ext cx="1618446" cy="348519"/>
          </a:xfrm>
          <a:prstGeom prst="homePlate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</a:ln>
          <a:effectLst>
            <a:outerShdw blurRad="127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行動指針</a:t>
            </a:r>
            <a:r>
              <a:rPr kumimoji="1" lang="en-US" altLang="ja-JP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PJ</a:t>
            </a:r>
            <a:r>
              <a:rPr kumimoji="1" lang="ja-JP" altLang="en-US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立上げ</a:t>
            </a:r>
          </a:p>
        </p:txBody>
      </p:sp>
      <p:sp>
        <p:nvSpPr>
          <p:cNvPr id="22" name="矢印: 五方向 21">
            <a:extLst>
              <a:ext uri="{FF2B5EF4-FFF2-40B4-BE49-F238E27FC236}">
                <a16:creationId xmlns:a16="http://schemas.microsoft.com/office/drawing/2014/main" id="{D6205AF6-1ECF-4CE7-4650-9FE29E12F828}"/>
              </a:ext>
            </a:extLst>
          </p:cNvPr>
          <p:cNvSpPr/>
          <p:nvPr/>
        </p:nvSpPr>
        <p:spPr>
          <a:xfrm>
            <a:off x="5712887" y="2967421"/>
            <a:ext cx="3733786" cy="348519"/>
          </a:xfrm>
          <a:prstGeom prst="homePlate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</a:ln>
          <a:effectLst>
            <a:outerShdw blurRad="127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ポジティブ仕掛け企画／コムシンク</a:t>
            </a:r>
            <a:r>
              <a:rPr kumimoji="1" lang="en-US" altLang="ja-JP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BOOK</a:t>
            </a:r>
            <a:r>
              <a:rPr kumimoji="1" lang="ja-JP" altLang="en-US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策定</a:t>
            </a:r>
          </a:p>
        </p:txBody>
      </p:sp>
      <p:sp>
        <p:nvSpPr>
          <p:cNvPr id="23" name="矢印: 五方向 22">
            <a:extLst>
              <a:ext uri="{FF2B5EF4-FFF2-40B4-BE49-F238E27FC236}">
                <a16:creationId xmlns:a16="http://schemas.microsoft.com/office/drawing/2014/main" id="{63414783-2690-4040-B19D-C22EF54A609E}"/>
              </a:ext>
            </a:extLst>
          </p:cNvPr>
          <p:cNvSpPr/>
          <p:nvPr/>
        </p:nvSpPr>
        <p:spPr>
          <a:xfrm>
            <a:off x="4038600" y="4194083"/>
            <a:ext cx="3202077" cy="348519"/>
          </a:xfrm>
          <a:prstGeom prst="homePlate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</a:ln>
          <a:effectLst>
            <a:outerShdw blurRad="127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契約書テンプレ化</a:t>
            </a:r>
          </a:p>
        </p:txBody>
      </p:sp>
      <p:sp>
        <p:nvSpPr>
          <p:cNvPr id="25" name="矢印: 五方向 24">
            <a:extLst>
              <a:ext uri="{FF2B5EF4-FFF2-40B4-BE49-F238E27FC236}">
                <a16:creationId xmlns:a16="http://schemas.microsoft.com/office/drawing/2014/main" id="{08F9315A-AF14-4DB4-8F00-AFB15EAFD73F}"/>
              </a:ext>
            </a:extLst>
          </p:cNvPr>
          <p:cNvSpPr/>
          <p:nvPr/>
        </p:nvSpPr>
        <p:spPr>
          <a:xfrm>
            <a:off x="3093656" y="4617419"/>
            <a:ext cx="1964629" cy="348519"/>
          </a:xfrm>
          <a:prstGeom prst="homePlate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</a:ln>
          <a:effectLst>
            <a:outerShdw blurRad="127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kumimoji="1" lang="en-US" altLang="ja-JP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M&amp;A</a:t>
            </a:r>
            <a:r>
              <a:rPr kumimoji="1" lang="ja-JP" altLang="en-US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資金計画</a:t>
            </a:r>
          </a:p>
        </p:txBody>
      </p:sp>
      <p:sp>
        <p:nvSpPr>
          <p:cNvPr id="26" name="矢印: 五方向 25">
            <a:extLst>
              <a:ext uri="{FF2B5EF4-FFF2-40B4-BE49-F238E27FC236}">
                <a16:creationId xmlns:a16="http://schemas.microsoft.com/office/drawing/2014/main" id="{5CA2D219-4222-5F5A-9799-4CE776B8B520}"/>
              </a:ext>
            </a:extLst>
          </p:cNvPr>
          <p:cNvSpPr/>
          <p:nvPr/>
        </p:nvSpPr>
        <p:spPr>
          <a:xfrm>
            <a:off x="9615653" y="4598738"/>
            <a:ext cx="2068089" cy="348519"/>
          </a:xfrm>
          <a:prstGeom prst="homePlate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</a:ln>
          <a:effectLst>
            <a:outerShdw blurRad="127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子会社管理会計の仕組み</a:t>
            </a:r>
          </a:p>
        </p:txBody>
      </p:sp>
      <p:sp>
        <p:nvSpPr>
          <p:cNvPr id="27" name="矢印: 五方向 26">
            <a:extLst>
              <a:ext uri="{FF2B5EF4-FFF2-40B4-BE49-F238E27FC236}">
                <a16:creationId xmlns:a16="http://schemas.microsoft.com/office/drawing/2014/main" id="{29BA8769-7CA6-A86F-A429-E4BEA8C02585}"/>
              </a:ext>
            </a:extLst>
          </p:cNvPr>
          <p:cNvSpPr/>
          <p:nvPr/>
        </p:nvSpPr>
        <p:spPr>
          <a:xfrm>
            <a:off x="3093655" y="5374474"/>
            <a:ext cx="5093904" cy="348519"/>
          </a:xfrm>
          <a:prstGeom prst="homePlate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</a:ln>
          <a:effectLst>
            <a:outerShdw blurRad="127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社内</a:t>
            </a:r>
            <a:r>
              <a:rPr kumimoji="1" lang="en-US" altLang="ja-JP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DX</a:t>
            </a:r>
            <a:endParaRPr kumimoji="1" lang="ja-JP" altLang="en-US" sz="1200" dirty="0">
              <a:solidFill>
                <a:schemeClr val="tx2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" name="矢印: 五方向 27">
            <a:extLst>
              <a:ext uri="{FF2B5EF4-FFF2-40B4-BE49-F238E27FC236}">
                <a16:creationId xmlns:a16="http://schemas.microsoft.com/office/drawing/2014/main" id="{2F6A4306-E2FB-6692-04E2-64B114BC0C79}"/>
              </a:ext>
            </a:extLst>
          </p:cNvPr>
          <p:cNvSpPr/>
          <p:nvPr/>
        </p:nvSpPr>
        <p:spPr>
          <a:xfrm>
            <a:off x="3093656" y="5861736"/>
            <a:ext cx="3002344" cy="348519"/>
          </a:xfrm>
          <a:prstGeom prst="homePlate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</a:ln>
          <a:effectLst>
            <a:outerShdw blurRad="127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東京オフィスセキュリティ要件まとめ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89CB7BD2-F1C4-1470-D439-EF41E65D6C1C}"/>
              </a:ext>
            </a:extLst>
          </p:cNvPr>
          <p:cNvSpPr/>
          <p:nvPr/>
        </p:nvSpPr>
        <p:spPr>
          <a:xfrm>
            <a:off x="5153171" y="967806"/>
            <a:ext cx="2087506" cy="45987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80000" rtlCol="0" anchor="ctr"/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kumimoji="1" lang="en-US" altLang="ja-JP" dirty="0">
                <a:solidFill>
                  <a:schemeClr val="bg1"/>
                </a:solidFill>
              </a:rPr>
              <a:t>2Q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30" name="矢印: 五方向 29">
            <a:extLst>
              <a:ext uri="{FF2B5EF4-FFF2-40B4-BE49-F238E27FC236}">
                <a16:creationId xmlns:a16="http://schemas.microsoft.com/office/drawing/2014/main" id="{99F0BCC1-303A-DEA3-8BB2-D86B43125D07}"/>
              </a:ext>
            </a:extLst>
          </p:cNvPr>
          <p:cNvSpPr/>
          <p:nvPr/>
        </p:nvSpPr>
        <p:spPr>
          <a:xfrm>
            <a:off x="7240677" y="2277863"/>
            <a:ext cx="4443062" cy="348519"/>
          </a:xfrm>
          <a:prstGeom prst="homePlate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</a:ln>
          <a:effectLst>
            <a:outerShdw blurRad="127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kumimoji="1" lang="en-US" altLang="ja-JP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M</a:t>
            </a:r>
            <a:r>
              <a:rPr kumimoji="1" lang="ja-JP" altLang="en-US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職候補育成</a:t>
            </a:r>
          </a:p>
        </p:txBody>
      </p:sp>
      <p:sp>
        <p:nvSpPr>
          <p:cNvPr id="31" name="矢印: 五方向 30">
            <a:extLst>
              <a:ext uri="{FF2B5EF4-FFF2-40B4-BE49-F238E27FC236}">
                <a16:creationId xmlns:a16="http://schemas.microsoft.com/office/drawing/2014/main" id="{6187E6BA-BCE9-3131-0E13-84DB22731E8D}"/>
              </a:ext>
            </a:extLst>
          </p:cNvPr>
          <p:cNvSpPr/>
          <p:nvPr/>
        </p:nvSpPr>
        <p:spPr>
          <a:xfrm>
            <a:off x="6096000" y="1881901"/>
            <a:ext cx="5587744" cy="348519"/>
          </a:xfrm>
          <a:prstGeom prst="homePlate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</a:ln>
          <a:effectLst>
            <a:outerShdw blurRad="127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採用ブランディング</a:t>
            </a:r>
          </a:p>
        </p:txBody>
      </p:sp>
      <p:sp>
        <p:nvSpPr>
          <p:cNvPr id="32" name="矢印: 五方向 31">
            <a:extLst>
              <a:ext uri="{FF2B5EF4-FFF2-40B4-BE49-F238E27FC236}">
                <a16:creationId xmlns:a16="http://schemas.microsoft.com/office/drawing/2014/main" id="{F96BA7C6-CFF6-D318-AA09-46B5D2A221A7}"/>
              </a:ext>
            </a:extLst>
          </p:cNvPr>
          <p:cNvSpPr/>
          <p:nvPr/>
        </p:nvSpPr>
        <p:spPr>
          <a:xfrm>
            <a:off x="4172607" y="1483089"/>
            <a:ext cx="7511132" cy="348519"/>
          </a:xfrm>
          <a:prstGeom prst="homePlate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</a:ln>
          <a:effectLst>
            <a:outerShdw blurRad="127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核人材採用</a:t>
            </a:r>
          </a:p>
        </p:txBody>
      </p:sp>
      <p:sp>
        <p:nvSpPr>
          <p:cNvPr id="33" name="矢印: 五方向 32">
            <a:extLst>
              <a:ext uri="{FF2B5EF4-FFF2-40B4-BE49-F238E27FC236}">
                <a16:creationId xmlns:a16="http://schemas.microsoft.com/office/drawing/2014/main" id="{2EBA05EC-0F76-56F2-8AA2-5C71D6891A98}"/>
              </a:ext>
            </a:extLst>
          </p:cNvPr>
          <p:cNvSpPr/>
          <p:nvPr/>
        </p:nvSpPr>
        <p:spPr>
          <a:xfrm>
            <a:off x="3093656" y="3367447"/>
            <a:ext cx="4147021" cy="348519"/>
          </a:xfrm>
          <a:prstGeom prst="homePlate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</a:ln>
          <a:effectLst>
            <a:outerShdw blurRad="127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オンボーディング教育の充実</a:t>
            </a:r>
          </a:p>
        </p:txBody>
      </p:sp>
      <p:sp>
        <p:nvSpPr>
          <p:cNvPr id="34" name="矢印: 五方向 33">
            <a:extLst>
              <a:ext uri="{FF2B5EF4-FFF2-40B4-BE49-F238E27FC236}">
                <a16:creationId xmlns:a16="http://schemas.microsoft.com/office/drawing/2014/main" id="{BB3E836C-78E8-E89B-8729-BCC8407D12CE}"/>
              </a:ext>
            </a:extLst>
          </p:cNvPr>
          <p:cNvSpPr/>
          <p:nvPr/>
        </p:nvSpPr>
        <p:spPr>
          <a:xfrm>
            <a:off x="6164438" y="5868213"/>
            <a:ext cx="2389458" cy="348519"/>
          </a:xfrm>
          <a:prstGeom prst="homePlate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</a:ln>
          <a:effectLst>
            <a:outerShdw blurRad="127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移転先候補選定。契約確認</a:t>
            </a:r>
          </a:p>
        </p:txBody>
      </p:sp>
      <p:sp>
        <p:nvSpPr>
          <p:cNvPr id="35" name="矢印: 五方向 34">
            <a:extLst>
              <a:ext uri="{FF2B5EF4-FFF2-40B4-BE49-F238E27FC236}">
                <a16:creationId xmlns:a16="http://schemas.microsoft.com/office/drawing/2014/main" id="{1D08E6E5-1AB0-4005-6C53-B9FF375E7C7C}"/>
              </a:ext>
            </a:extLst>
          </p:cNvPr>
          <p:cNvSpPr/>
          <p:nvPr/>
        </p:nvSpPr>
        <p:spPr>
          <a:xfrm>
            <a:off x="8705322" y="5852402"/>
            <a:ext cx="2932124" cy="348519"/>
          </a:xfrm>
          <a:prstGeom prst="homePlate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</a:ln>
          <a:effectLst>
            <a:outerShdw blurRad="127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工事計画・移転計画</a:t>
            </a:r>
          </a:p>
        </p:txBody>
      </p:sp>
      <p:sp>
        <p:nvSpPr>
          <p:cNvPr id="15" name="矢印: 五方向 14">
            <a:extLst>
              <a:ext uri="{FF2B5EF4-FFF2-40B4-BE49-F238E27FC236}">
                <a16:creationId xmlns:a16="http://schemas.microsoft.com/office/drawing/2014/main" id="{26840949-EA77-11AD-A565-C5D6C49A4A11}"/>
              </a:ext>
            </a:extLst>
          </p:cNvPr>
          <p:cNvSpPr/>
          <p:nvPr/>
        </p:nvSpPr>
        <p:spPr>
          <a:xfrm>
            <a:off x="3071005" y="1477525"/>
            <a:ext cx="1280278" cy="348519"/>
          </a:xfrm>
          <a:prstGeom prst="homePlate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</a:ln>
          <a:effectLst>
            <a:outerShdw blurRad="127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ペルソナ設計</a:t>
            </a:r>
          </a:p>
        </p:txBody>
      </p:sp>
      <p:sp>
        <p:nvSpPr>
          <p:cNvPr id="37" name="矢印: 五方向 36">
            <a:extLst>
              <a:ext uri="{FF2B5EF4-FFF2-40B4-BE49-F238E27FC236}">
                <a16:creationId xmlns:a16="http://schemas.microsoft.com/office/drawing/2014/main" id="{223CCA30-F67C-08D7-6CD0-A2F340A7037A}"/>
              </a:ext>
            </a:extLst>
          </p:cNvPr>
          <p:cNvSpPr/>
          <p:nvPr/>
        </p:nvSpPr>
        <p:spPr>
          <a:xfrm>
            <a:off x="9582071" y="2963454"/>
            <a:ext cx="2068089" cy="348519"/>
          </a:xfrm>
          <a:prstGeom prst="homePlate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</a:ln>
          <a:effectLst>
            <a:outerShdw blurRad="127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kumimoji="1" lang="ja-JP" altLang="en-US" sz="1200" dirty="0">
                <a:solidFill>
                  <a:schemeClr val="tx2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浸透活動</a:t>
            </a:r>
          </a:p>
        </p:txBody>
      </p:sp>
    </p:spTree>
    <p:extLst>
      <p:ext uri="{BB962C8B-B14F-4D97-AF65-F5344CB8AC3E}">
        <p14:creationId xmlns:p14="http://schemas.microsoft.com/office/powerpoint/2010/main" val="597246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altLang="ja-JP" sz="400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R100</a:t>
            </a:r>
            <a:r>
              <a:rPr lang="ja-JP" altLang="en-US" sz="400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達成の姿</a:t>
            </a:r>
            <a:r>
              <a:rPr lang="en-US" altLang="ja-JP" sz="400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(1000</a:t>
            </a:r>
            <a:r>
              <a:rPr lang="ja-JP" altLang="en-US" sz="400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億円の通過点として</a:t>
            </a:r>
            <a:r>
              <a:rPr lang="en-US" altLang="ja-JP" sz="400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lang="ja-JP" altLang="en-US" sz="4000" dirty="0">
              <a:solidFill>
                <a:srgbClr val="FFFFFF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740" y="1891970"/>
            <a:ext cx="11076317" cy="4671491"/>
          </a:xfrm>
        </p:spPr>
        <p:txBody>
          <a:bodyPr anchor="ctr">
            <a:no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社員数</a:t>
            </a:r>
            <a:r>
              <a:rPr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500</a:t>
            </a: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名　→　生産性向上、事業ポートフォリオの多様化もあり、人依存脱却を想定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IPO</a:t>
            </a: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や</a:t>
            </a:r>
            <a:r>
              <a:rPr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M&amp;A</a:t>
            </a: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を視野に「東京本社」、大阪はメイン開発拠点として存続、滋賀</a:t>
            </a:r>
            <a:r>
              <a:rPr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+</a:t>
            </a: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開発</a:t>
            </a:r>
            <a:r>
              <a:rPr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拠点検討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採用だけでなく</a:t>
            </a:r>
            <a:r>
              <a:rPr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M&amp;A</a:t>
            </a: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戦略で組織拡張、事業の多様化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ERP</a:t>
            </a: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やセキュリティ体制などシステム基盤整備、業務効率化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人材育成制度が整い、中堅層・リーダー層が機能している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本部機能は専任人材が戦略を立て、経営を牽引している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IPO</a:t>
            </a: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準備中、内部監査・ガバナンス機能立ち上げ、監査法人契約済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海外展開準備中で、多様性採用（外国籍比率</a:t>
            </a:r>
            <a:r>
              <a:rPr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5%)</a:t>
            </a: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、国際契約対応準備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1000</a:t>
            </a: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億企業を目指す経営層が育っている</a:t>
            </a:r>
          </a:p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endParaRPr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A0DB65F-D3CE-7AE5-F673-CCF74D33E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C25557-4535-666D-A4E9-BC2D02C14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B2073D5-5346-C40A-A115-CBB8A17D1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410AA2-51A5-D302-C75C-5A2E80B67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629502A8-1F1F-FB26-F5AF-E5627FAA8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4C4A82E-A929-F9AD-7ABC-E00062ED2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5FEFF-DE5E-DD2C-CF86-82E1FF4D3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339"/>
            <a:ext cx="9688296" cy="6370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ja-JP" sz="24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ja-JP" altLang="en-US" sz="24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経営インフラを整えるロードマップ</a:t>
            </a:r>
            <a:r>
              <a:rPr lang="en-US" altLang="ja-JP" sz="24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endParaRPr lang="ja-JP" altLang="en-US" sz="2400" kern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8278EEA-C469-7F2B-AC2F-8516958BB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111" y="629729"/>
            <a:ext cx="10679777" cy="574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89720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0B631D-F41A-6B8D-04E5-DD1025C2D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03F9E-2C04-F6E6-E6E5-01D793F8E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2643" y="87551"/>
            <a:ext cx="9688296" cy="8289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V40</a:t>
            </a:r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r>
              <a:rPr lang="ja-JP" altLang="en-US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人事戦略の振り返り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5AD463B-467B-FA10-5D9E-8E1C7A5C182F}"/>
              </a:ext>
            </a:extLst>
          </p:cNvPr>
          <p:cNvSpPr txBox="1"/>
          <p:nvPr/>
        </p:nvSpPr>
        <p:spPr>
          <a:xfrm>
            <a:off x="1175190" y="1130508"/>
            <a:ext cx="10204010" cy="5746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採用を重点施策とし、特に</a:t>
            </a:r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40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期は採用に振り切って組織拡大を狙う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EA6830D-F5A1-D439-4706-49F6C87BE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55" y="3749963"/>
            <a:ext cx="4943683" cy="2426899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946490F-8351-CAFD-BC6A-559B743CE9A8}"/>
              </a:ext>
            </a:extLst>
          </p:cNvPr>
          <p:cNvSpPr txBox="1"/>
          <p:nvPr/>
        </p:nvSpPr>
        <p:spPr>
          <a:xfrm>
            <a:off x="692753" y="2163888"/>
            <a:ext cx="468269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5</a:t>
            </a:r>
            <a:r>
              <a:rPr kumimoji="1" lang="ja-JP" altLang="en-US" dirty="0"/>
              <a:t>年間の採用実績：</a:t>
            </a:r>
            <a:r>
              <a:rPr kumimoji="1" lang="en-US" altLang="ja-JP" dirty="0"/>
              <a:t>195</a:t>
            </a:r>
            <a:r>
              <a:rPr kumimoji="1" lang="ja-JP" altLang="en-US" dirty="0"/>
              <a:t>人</a:t>
            </a:r>
          </a:p>
          <a:p>
            <a:r>
              <a:rPr kumimoji="1" lang="en-US" altLang="ja-JP" dirty="0"/>
              <a:t>5</a:t>
            </a:r>
            <a:r>
              <a:rPr kumimoji="1" lang="ja-JP" altLang="en-US" dirty="0"/>
              <a:t>年間の純増：</a:t>
            </a:r>
            <a:r>
              <a:rPr kumimoji="1" lang="en-US" altLang="ja-JP" dirty="0"/>
              <a:t>49</a:t>
            </a:r>
            <a:r>
              <a:rPr kumimoji="1" lang="ja-JP" altLang="en-US" dirty="0"/>
              <a:t>人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40</a:t>
            </a:r>
            <a:r>
              <a:rPr kumimoji="1" lang="ja-JP" altLang="en-US" dirty="0"/>
              <a:t>期離職率</a:t>
            </a:r>
            <a:r>
              <a:rPr kumimoji="1" lang="en-US" altLang="ja-JP" dirty="0"/>
              <a:t>22%</a:t>
            </a:r>
            <a:endParaRPr kumimoji="1" lang="ja-JP" altLang="en-US" dirty="0"/>
          </a:p>
          <a:p>
            <a:r>
              <a:rPr kumimoji="1" lang="ja-JP" altLang="en-US" dirty="0"/>
              <a:t>リーマンショック時の</a:t>
            </a:r>
            <a:r>
              <a:rPr kumimoji="1" lang="en-US" altLang="ja-JP" dirty="0"/>
              <a:t>13.7%</a:t>
            </a:r>
            <a:r>
              <a:rPr kumimoji="1" lang="ja-JP" altLang="en-US" dirty="0"/>
              <a:t>を超え過去最悪</a:t>
            </a:r>
          </a:p>
        </p:txBody>
      </p:sp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189191A5-179F-C06E-5E71-BF46923E06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3854470"/>
              </p:ext>
            </p:extLst>
          </p:nvPr>
        </p:nvGraphicFramePr>
        <p:xfrm>
          <a:off x="6900200" y="3631024"/>
          <a:ext cx="3988717" cy="24268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C16D4FD-CFC8-46B9-6490-4B73DD5AFD82}"/>
              </a:ext>
            </a:extLst>
          </p:cNvPr>
          <p:cNvSpPr txBox="1"/>
          <p:nvPr/>
        </p:nvSpPr>
        <p:spPr>
          <a:xfrm>
            <a:off x="7324555" y="3371394"/>
            <a:ext cx="3302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直近</a:t>
            </a:r>
            <a:r>
              <a:rPr kumimoji="1" lang="en-US" altLang="ja-JP" dirty="0"/>
              <a:t>3</a:t>
            </a:r>
            <a:r>
              <a:rPr kumimoji="1" lang="ja-JP" altLang="en-US" dirty="0"/>
              <a:t>年間離職者の年代別割合</a:t>
            </a:r>
          </a:p>
        </p:txBody>
      </p:sp>
      <p:sp>
        <p:nvSpPr>
          <p:cNvPr id="9" name="吹き出し: 下矢印 8">
            <a:extLst>
              <a:ext uri="{FF2B5EF4-FFF2-40B4-BE49-F238E27FC236}">
                <a16:creationId xmlns:a16="http://schemas.microsoft.com/office/drawing/2014/main" id="{96A328C2-8AFA-D81F-69C8-65BAADEC0750}"/>
              </a:ext>
            </a:extLst>
          </p:cNvPr>
          <p:cNvSpPr/>
          <p:nvPr/>
        </p:nvSpPr>
        <p:spPr>
          <a:xfrm>
            <a:off x="7472277" y="2046998"/>
            <a:ext cx="3007062" cy="1198118"/>
          </a:xfrm>
          <a:prstGeom prst="downArrowCallout">
            <a:avLst>
              <a:gd name="adj1" fmla="val 12666"/>
              <a:gd name="adj2" fmla="val 25000"/>
              <a:gd name="adj3" fmla="val 23458"/>
              <a:gd name="adj4" fmla="val 43392"/>
            </a:avLst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全年代層から離職者が発生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758D52D-E13E-5B67-622F-AD4634BC6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53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FC89E3-7623-DDC5-0D57-623F55729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81BA228-B4EE-F042-DE3A-2F2B91884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3B57E4-A797-54B2-AE94-BB410EE04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2643" y="87551"/>
            <a:ext cx="9688296" cy="8289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R100</a:t>
            </a:r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への</a:t>
            </a:r>
            <a:r>
              <a:rPr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VUC</a:t>
            </a:r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戦略のポイント</a:t>
            </a:r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endParaRPr lang="ja-JP" altLang="en-US" sz="2800" kern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B26B3A-2A1C-CBC3-9857-12A7E17ED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CE8A0254-593D-8E0B-DF40-11AF6F583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59F7B15-E1EC-E695-B23D-3FFBA0C51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5061B1C-F52C-8611-A51C-1B3BE80A68CE}"/>
              </a:ext>
            </a:extLst>
          </p:cNvPr>
          <p:cNvSpPr txBox="1"/>
          <p:nvPr/>
        </p:nvSpPr>
        <p:spPr>
          <a:xfrm>
            <a:off x="657225" y="1013742"/>
            <a:ext cx="11229975" cy="48357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「人が重要なビジネス」に立ち返り、</a:t>
            </a:r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VUC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から人事部独立・強化</a:t>
            </a:r>
            <a:b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endParaRPr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・コーポレート人事　：　会社全体の「枠組み・ルール・文化」 をつくる</a:t>
            </a: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　　　　　　　制度・採用ブランディング・全社共通職種採用・幹部採用</a:t>
            </a: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事業部人事　　　　：　各事業部の人材戦略を実行する</a:t>
            </a: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　　　　　　　採用・育成・組織作り・メンタル不全含むトラブル時の面談</a:t>
            </a: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ja-JP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 </a:t>
            </a: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社員エンゲージメント向上で組織に活力を</a:t>
            </a:r>
            <a:r>
              <a:rPr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ポジティブ文化を醸成する仕掛け</a:t>
            </a: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M&amp;A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で異文化社員増、エンジニア以外の職種の社員増　→　行動指針を定めて確固たる社風を作る		</a:t>
            </a:r>
          </a:p>
        </p:txBody>
      </p:sp>
    </p:spTree>
    <p:extLst>
      <p:ext uri="{BB962C8B-B14F-4D97-AF65-F5344CB8AC3E}">
        <p14:creationId xmlns:p14="http://schemas.microsoft.com/office/powerpoint/2010/main" val="2536110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92CF7-2494-117D-6532-B84751700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6DFD41E-531D-EAB3-5851-6631F42D1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869D16-E513-0672-1C25-CFC3AEE74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8BF2C34D-61D6-B01D-4F6D-D5EA06B3E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F81CC23-303C-B754-BFBB-34D4C7365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9C3A36-7F9D-D0CF-CD2D-19BE95F89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908" y="1018089"/>
            <a:ext cx="11268363" cy="7675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ja-JP" sz="3600">
                <a:latin typeface="メイリオ" panose="020B0604030504040204" pitchFamily="50" charset="-128"/>
                <a:ea typeface="メイリオ" panose="020B0604030504040204" pitchFamily="50" charset="-128"/>
              </a:rPr>
              <a:t>【 VUC</a:t>
            </a:r>
            <a:r>
              <a:rPr lang="ja-JP" altLang="en-US" sz="3600">
                <a:latin typeface="メイリオ" panose="020B0604030504040204" pitchFamily="50" charset="-128"/>
                <a:ea typeface="メイリオ" panose="020B0604030504040204" pitchFamily="50" charset="-128"/>
              </a:rPr>
              <a:t>組織改編</a:t>
            </a:r>
            <a:r>
              <a:rPr lang="en-US" altLang="ja-JP" sz="3600"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r>
              <a:rPr lang="en-US" altLang="ja-JP" sz="3100">
                <a:latin typeface="メイリオ" panose="020B0604030504040204" pitchFamily="50" charset="-128"/>
                <a:ea typeface="メイリオ" panose="020B0604030504040204" pitchFamily="50" charset="-128"/>
              </a:rPr>
              <a:t>42</a:t>
            </a:r>
            <a:r>
              <a:rPr lang="ja-JP" altLang="en-US" sz="3100">
                <a:latin typeface="メイリオ" panose="020B0604030504040204" pitchFamily="50" charset="-128"/>
                <a:ea typeface="メイリオ" panose="020B0604030504040204" pitchFamily="50" charset="-128"/>
              </a:rPr>
              <a:t>期以降　人事組織を</a:t>
            </a:r>
            <a:r>
              <a:rPr lang="en-US" altLang="ja-JP" sz="3100">
                <a:latin typeface="メイリオ" panose="020B0604030504040204" pitchFamily="50" charset="-128"/>
                <a:ea typeface="メイリオ" panose="020B0604030504040204" pitchFamily="50" charset="-128"/>
              </a:rPr>
              <a:t>VUC</a:t>
            </a:r>
            <a:r>
              <a:rPr lang="ja-JP" altLang="en-US" sz="3100">
                <a:latin typeface="メイリオ" panose="020B0604030504040204" pitchFamily="50" charset="-128"/>
                <a:ea typeface="メイリオ" panose="020B0604030504040204" pitchFamily="50" charset="-128"/>
              </a:rPr>
              <a:t>から独立・増強</a:t>
            </a:r>
            <a:br>
              <a:rPr lang="ja-JP" altLang="en-US" sz="3600"/>
            </a:br>
            <a:endParaRPr lang="ja-JP" altLang="en-US" sz="3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313205B-1883-86AD-2C2D-9F06522DC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815" y="2397278"/>
            <a:ext cx="8764223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011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E17395-A422-9165-2784-BB23AC33D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7931A6-7770-93FF-8B66-F2347AD70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899" y="136525"/>
            <a:ext cx="9688296" cy="84925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ja-JP" altLang="en-US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人事機能のロードマップ</a:t>
            </a:r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endParaRPr lang="ja-JP" altLang="en-US" sz="2800" kern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D4029A5-316C-E454-2A77-40C64206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9BE95D2-159E-21C0-02BB-C2EB6F59C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41" y="1030233"/>
            <a:ext cx="11083807" cy="511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170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164D7-B3C7-4A75-02A7-00F368932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61292B-132F-A71E-4E57-0EE09FE40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288" y="205802"/>
            <a:ext cx="9688296" cy="9102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コーポレート人事</a:t>
            </a:r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endParaRPr lang="ja-JP" altLang="en-US" sz="2800" kern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3990AAD-BAED-CE3C-5305-5D4405D6AA2F}"/>
              </a:ext>
            </a:extLst>
          </p:cNvPr>
          <p:cNvSpPr txBox="1"/>
          <p:nvPr/>
        </p:nvSpPr>
        <p:spPr>
          <a:xfrm>
            <a:off x="1136397" y="1706880"/>
            <a:ext cx="9688296" cy="45618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会社全体の「枠組み・ルール・文化」 をつくる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制度設計：評価制度、報酬制度、等級制度、働き方制度など全社共通ルールを策定・運用		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採用ブランディング：企業の魅力発信、採用広報、採用サイト・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SNS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運用	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全社採用：新卒採用、中途採用（全社共通職種、経営幹部クラスなど）	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育成体系の構築：階層別研修、全社研修の企画運営	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人事データ管理：人事情報システム（組織づくり・タレントマネジメント）の統括		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組織開発：エンゲージメント調査、組織課題分析、施策実施		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91F6EB4-065F-64A5-2EFA-8E3F611C6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7829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F36AD9-1DCE-5DDF-EDC1-43E24DC28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F2EAE9-68D9-74FE-BEB5-E15163BAD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1" y="396289"/>
            <a:ext cx="9688296" cy="8594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事業部担当人事（</a:t>
            </a:r>
            <a:r>
              <a:rPr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HRBP</a:t>
            </a:r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） </a:t>
            </a:r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endParaRPr lang="ja-JP" altLang="en-US" sz="2800" kern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DFC7251-3D68-5CBF-6F10-89BD37F4D89E}"/>
              </a:ext>
            </a:extLst>
          </p:cNvPr>
          <p:cNvSpPr txBox="1"/>
          <p:nvPr/>
        </p:nvSpPr>
        <p:spPr>
          <a:xfrm>
            <a:off x="1136396" y="1863461"/>
            <a:ext cx="10456163" cy="44925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現場で「人を動かし成果を出すための実行支援」をする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・事業部の戦略や目標達成を人事面から支援し、「現場の成果」に直結する役割</a:t>
            </a: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・部門別採用：その事業部に必要な人材の採用（職種要件定義、面接、候補者クロージング）</a:t>
            </a: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　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・現場向け育成：技術研修、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OJT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支援、現場課題に合わせたスキル強化・育成支援</a:t>
            </a: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・組織課題対応：離職防止、モチベーション管理、配置転換の提案	</a:t>
            </a: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・メンタルケア・人間関係改善：現場の相談窓口		</a:t>
            </a: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・パフォーマンス管理：評価面談のサポート、部門長への人事的アドバイス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2E3BF0B-F6A4-F0E5-9A11-6FDBA2CA1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907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207821-91B4-D2C2-8611-2B1416701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DAD440D-0F5D-9454-4255-7F2E664DD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6907B2-6CEC-3226-584B-1D788612E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BA535C53-6521-A2DB-A87A-DF6C0980D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BA0B5B4-190F-ECA2-BA1D-5E1C7D6D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28DD75-C3CC-46ED-0867-C39D6F482E7F}"/>
              </a:ext>
            </a:extLst>
          </p:cNvPr>
          <p:cNvSpPr txBox="1">
            <a:spLocks/>
          </p:cNvSpPr>
          <p:nvPr/>
        </p:nvSpPr>
        <p:spPr>
          <a:xfrm>
            <a:off x="401470" y="291725"/>
            <a:ext cx="10515600" cy="11334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800"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ja-JP" altLang="en-US" sz="2800">
                <a:latin typeface="メイリオ" panose="020B0604030504040204" pitchFamily="50" charset="-128"/>
                <a:ea typeface="メイリオ" panose="020B0604030504040204" pitchFamily="50" charset="-128"/>
              </a:rPr>
              <a:t>年度別人員計画（</a:t>
            </a:r>
            <a:r>
              <a:rPr lang="en-US" altLang="ja-JP" sz="2800">
                <a:latin typeface="メイリオ" panose="020B0604030504040204" pitchFamily="50" charset="-128"/>
                <a:ea typeface="メイリオ" panose="020B0604030504040204" pitchFamily="50" charset="-128"/>
              </a:rPr>
              <a:t>500</a:t>
            </a:r>
            <a:r>
              <a:rPr lang="ja-JP" altLang="en-US" sz="2800">
                <a:latin typeface="メイリオ" panose="020B0604030504040204" pitchFamily="50" charset="-128"/>
                <a:ea typeface="メイリオ" panose="020B0604030504040204" pitchFamily="50" charset="-128"/>
              </a:rPr>
              <a:t>名シナリオ）</a:t>
            </a:r>
            <a:r>
              <a:rPr lang="en-US" altLang="ja-JP" sz="2800"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endParaRPr lang="ja-JP" altLang="en-US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C44BD41-7E71-AD5B-ECB8-05A16FA6F46E}"/>
              </a:ext>
            </a:extLst>
          </p:cNvPr>
          <p:cNvSpPr txBox="1"/>
          <p:nvPr/>
        </p:nvSpPr>
        <p:spPr>
          <a:xfrm>
            <a:off x="6209037" y="3614312"/>
            <a:ext cx="58047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※ 41</a:t>
            </a:r>
            <a:r>
              <a:rPr kumimoji="1" lang="ja-JP" altLang="en-US" dirty="0"/>
              <a:t>期の離職率は</a:t>
            </a:r>
            <a:r>
              <a:rPr kumimoji="1" lang="en-US" altLang="ja-JP" dirty="0"/>
              <a:t>15</a:t>
            </a:r>
            <a:r>
              <a:rPr kumimoji="1" lang="ja-JP" altLang="en-US" dirty="0"/>
              <a:t>％で計算</a:t>
            </a:r>
            <a:br>
              <a:rPr kumimoji="1" lang="ja-JP" altLang="en-US" dirty="0"/>
            </a:br>
            <a:r>
              <a:rPr kumimoji="1" lang="ja-JP" altLang="en-US"/>
              <a:t>　 </a:t>
            </a:r>
            <a:r>
              <a:rPr kumimoji="1" lang="en-US" altLang="ja-JP"/>
              <a:t>999</a:t>
            </a:r>
            <a:r>
              <a:rPr kumimoji="1" lang="ja-JP" altLang="en-US" dirty="0"/>
              <a:t>人以下企業は</a:t>
            </a:r>
            <a:r>
              <a:rPr kumimoji="1" lang="en-US" altLang="ja-JP" dirty="0"/>
              <a:t>15</a:t>
            </a:r>
            <a:r>
              <a:rPr kumimoji="1" lang="ja-JP" altLang="en-US" dirty="0"/>
              <a:t>～</a:t>
            </a:r>
            <a:r>
              <a:rPr kumimoji="1" lang="en-US" altLang="ja-JP" dirty="0"/>
              <a:t>19% </a:t>
            </a:r>
            <a:r>
              <a:rPr kumimoji="1" lang="en-US" altLang="ja-JP" sz="1200" dirty="0"/>
              <a:t>(</a:t>
            </a:r>
            <a:r>
              <a:rPr kumimoji="1" lang="zh-TW" altLang="en-US" sz="1200" dirty="0"/>
              <a:t>厚生労働省 </a:t>
            </a:r>
            <a:r>
              <a:rPr kumimoji="1" lang="en-US" altLang="zh-TW" sz="1200" dirty="0"/>
              <a:t>2022</a:t>
            </a:r>
            <a:r>
              <a:rPr kumimoji="1" lang="zh-TW" altLang="en-US" sz="1200" dirty="0"/>
              <a:t>年度：情報通信業</a:t>
            </a:r>
            <a:r>
              <a:rPr kumimoji="1" lang="en-US" altLang="zh-TW" sz="1200" dirty="0"/>
              <a:t>)</a:t>
            </a:r>
            <a:endParaRPr kumimoji="1" lang="ja-JP" altLang="en-US" sz="1200" dirty="0"/>
          </a:p>
          <a:p>
            <a:endParaRPr kumimoji="1" lang="ja-JP" altLang="en-US" dirty="0"/>
          </a:p>
          <a:p>
            <a:r>
              <a:rPr kumimoji="1" lang="en-US" altLang="ja-JP" dirty="0"/>
              <a:t>※ 42</a:t>
            </a:r>
            <a:r>
              <a:rPr kumimoji="1" lang="ja-JP" altLang="en-US" dirty="0"/>
              <a:t>期には</a:t>
            </a:r>
            <a:r>
              <a:rPr kumimoji="1" lang="en-US" altLang="ja-JP" dirty="0"/>
              <a:t>IT</a:t>
            </a:r>
            <a:r>
              <a:rPr kumimoji="1" lang="ja-JP" altLang="en-US" dirty="0"/>
              <a:t>業界の全体平均</a:t>
            </a:r>
            <a:r>
              <a:rPr kumimoji="1" lang="en-US" altLang="ja-JP" dirty="0"/>
              <a:t>12%</a:t>
            </a:r>
            <a:r>
              <a:rPr kumimoji="1" lang="ja-JP" altLang="en-US" dirty="0"/>
              <a:t>に、</a:t>
            </a:r>
            <a:br>
              <a:rPr kumimoji="1" lang="en-US" altLang="ja-JP" dirty="0"/>
            </a:br>
            <a:r>
              <a:rPr kumimoji="1" lang="en-US" altLang="ja-JP" dirty="0"/>
              <a:t>      44</a:t>
            </a:r>
            <a:r>
              <a:rPr kumimoji="1" lang="ja-JP" altLang="en-US" dirty="0"/>
              <a:t>期には</a:t>
            </a:r>
            <a:r>
              <a:rPr kumimoji="1" lang="en-US" altLang="ja-JP" dirty="0"/>
              <a:t>8%</a:t>
            </a:r>
            <a:r>
              <a:rPr kumimoji="1" lang="ja-JP" altLang="en-US" dirty="0"/>
              <a:t>以内で安定させる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※ M&amp;A</a:t>
            </a:r>
            <a:r>
              <a:rPr kumimoji="1" lang="ja-JP" altLang="en-US" dirty="0"/>
              <a:t>は</a:t>
            </a:r>
            <a:r>
              <a:rPr kumimoji="1" lang="en-US" altLang="ja-JP" dirty="0"/>
              <a:t>3</a:t>
            </a:r>
            <a:r>
              <a:rPr kumimoji="1" lang="ja-JP" altLang="en-US" dirty="0"/>
              <a:t>年目に大きく実行して一気に規模拡大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※M&amp;A</a:t>
            </a:r>
            <a:r>
              <a:rPr kumimoji="1" lang="ja-JP" altLang="en-US" dirty="0"/>
              <a:t>定着率を</a:t>
            </a:r>
            <a:r>
              <a:rPr kumimoji="1" lang="en-US" altLang="ja-JP" dirty="0"/>
              <a:t>70%</a:t>
            </a:r>
            <a:r>
              <a:rPr kumimoji="1" lang="ja-JP" altLang="en-US" dirty="0"/>
              <a:t>とみて、企業規模感を想定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EDD1CF7-D973-AA48-FE98-E756FFE0D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61" y="1425224"/>
            <a:ext cx="5830114" cy="4790849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C2A78A64-430D-BBD0-320D-B20A0E362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375" y="1425224"/>
            <a:ext cx="5872376" cy="189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4791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E77546-C826-CB86-0E39-6D85DE38D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FFB253-8819-56AB-BC8D-1B05F80E7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437" y="319305"/>
            <a:ext cx="9688296" cy="88989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ja-JP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【1-4】VUC</a:t>
            </a:r>
            <a:r>
              <a:rPr lang="ja-JP" alt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組織改編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A9BACF8-2DFC-139D-CCEE-7B9D7DEAC929}"/>
              </a:ext>
            </a:extLst>
          </p:cNvPr>
          <p:cNvSpPr txBox="1"/>
          <p:nvPr/>
        </p:nvSpPr>
        <p:spPr>
          <a:xfrm>
            <a:off x="912876" y="1589798"/>
            <a:ext cx="10994643" cy="470940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人が重要なビジネス　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⇒　社員数に対して人事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2%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が適正と考えて人事組織を立ち上げる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役割を分ける</a:t>
            </a:r>
            <a:r>
              <a:rPr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コーポレート人事　：　制度・採用ブランディング・全社共通職種採用・幹部採用</a:t>
            </a: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事業部人事　　　　：　各事業部長がつくる人材戦略を実行する</a:t>
            </a:r>
            <a:b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　　　　　　　　採用・育成・組織作り・メンタル不全含むトラブル時の面談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　　　　　　∟　エンジニアからの転換もあり	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　　　　　　∟　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人の実行人事が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1-2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つの事業部を担当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　　　　　　　　　　∟　インダストリー別組織⇒ペルソナも異なり、差も拡大すると想定	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F630DAF-144A-BB64-8CA5-940052A99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9246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E6438F-9A5B-50E0-561E-77AEF6250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19FC2C-637E-BCE4-EED6-48E785E89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9813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ja-JP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【5-2】</a:t>
            </a:r>
            <a:r>
              <a:rPr lang="ja-JP" alt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人員拡大のリスク対策</a:t>
            </a:r>
            <a:endParaRPr lang="en-US" altLang="ja-JP" sz="4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936471F-1143-2C95-54D3-9F8718CC1459}"/>
              </a:ext>
            </a:extLst>
          </p:cNvPr>
          <p:cNvSpPr txBox="1"/>
          <p:nvPr/>
        </p:nvSpPr>
        <p:spPr>
          <a:xfrm>
            <a:off x="1136397" y="1846130"/>
            <a:ext cx="10639043" cy="41918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ja-JP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ja-JP" sz="2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1. </a:t>
            </a:r>
            <a:r>
              <a:rPr lang="ja-JP" altLang="en-US" sz="2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採用の質管理</a:t>
            </a:r>
            <a:br>
              <a:rPr lang="ja-JP" altLang="en-US" sz="2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→ 　新卒・中途ともに、スキル・能力だけでなくカルチャーフィット重視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ja-JP" sz="2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2. </a:t>
            </a:r>
            <a:r>
              <a:rPr lang="ja-JP" altLang="en-US" sz="2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離職率低下施策</a:t>
            </a:r>
            <a:br>
              <a:rPr lang="ja-JP" altLang="en-US" sz="2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2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  <a:r>
              <a:rPr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→ 　新卒・中途ともに、入社</a:t>
            </a:r>
            <a:r>
              <a:rPr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年以内離職率を</a:t>
            </a:r>
            <a:r>
              <a:rPr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％未満に抑える</a:t>
            </a:r>
            <a:b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ja-JP" sz="2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3. M&amp;A</a:t>
            </a:r>
            <a:r>
              <a:rPr lang="ja-JP" altLang="en-US" sz="2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後の統合作業（</a:t>
            </a:r>
            <a:r>
              <a:rPr lang="en-US" altLang="ja-JP" sz="2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PMI</a:t>
            </a:r>
            <a:r>
              <a:rPr lang="ja-JP" altLang="en-US" sz="2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  <a:br>
              <a:rPr lang="ja-JP" altLang="en-US" sz="2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→ 　文化融合・制度統一・人材定着施策を統合の半年以内に実行		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ja-JP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B4053E3-BE6A-D5DC-7661-DA3F35722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1585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86958A-170A-8D89-554A-9279156C1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226103D-FF02-BF34-51E0-610456F6C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1EB048-A8BB-EAA9-C112-B777AB64C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ja-JP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41</a:t>
            </a:r>
            <a:r>
              <a:rPr lang="ja-JP" altLang="en-US" sz="36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期 人事施策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F27D3FCF-3548-9F19-5A99-B96D9C639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475A8-7FF1-DAE8-5194-116D59988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endParaRPr lang="ja-JP" altLang="en-US" sz="2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500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人組織になったときの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M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職の適正人数</a:t>
            </a: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管理人数はやや少なめで社員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10〜12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％　⇒　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50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</a:t>
            </a: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現状　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　　　　　　　　 　　⇒　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M16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　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AM17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</a:t>
            </a: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lang="ja-JP" altLang="en-US" sz="2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年でリーダーから管理職に育成　もしくは　採用して、新たに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名の</a:t>
            </a:r>
            <a:r>
              <a:rPr lang="en-US" altLang="ja-JP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M</a:t>
            </a: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層を</a:t>
            </a:r>
            <a:b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2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							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23CEF2B-3F2D-F17F-53DE-0A08E7D0AF9A}"/>
              </a:ext>
            </a:extLst>
          </p:cNvPr>
          <p:cNvSpPr/>
          <p:nvPr/>
        </p:nvSpPr>
        <p:spPr>
          <a:xfrm>
            <a:off x="2530762" y="5403180"/>
            <a:ext cx="6936509" cy="778164"/>
          </a:xfrm>
          <a:prstGeom prst="round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次世代</a:t>
            </a:r>
            <a:r>
              <a:rPr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M</a:t>
            </a:r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職候補の育成研修</a:t>
            </a:r>
            <a:endParaRPr kumimoji="1" lang="ja-JP" altLang="en-US" sz="28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0A7FA4B-1F1B-C6E2-7B56-FDC58BB3D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354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6F9665-1630-2358-2F2F-AF0112118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465CF40-07FF-ECFD-8EB3-2DF49E6D2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01D02F-ABDC-5156-FD93-61620C626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2643" y="104508"/>
            <a:ext cx="9688296" cy="8289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V40</a:t>
            </a:r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r>
              <a:rPr lang="ja-JP" altLang="en-US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退職理由分析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6830A3-C0EA-D9C8-9089-2BF63FB82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7F2695B7-0D26-9CD3-C9C5-E0C07FF75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7AFC728-E22B-FD89-D04A-01ECA08F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10" name="グラフ 9">
            <a:extLst>
              <a:ext uri="{FF2B5EF4-FFF2-40B4-BE49-F238E27FC236}">
                <a16:creationId xmlns:a16="http://schemas.microsoft.com/office/drawing/2014/main" id="{9ADE251B-446C-A6EC-198C-DA7687A8DF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8639043"/>
              </p:ext>
            </p:extLst>
          </p:nvPr>
        </p:nvGraphicFramePr>
        <p:xfrm>
          <a:off x="285751" y="1363343"/>
          <a:ext cx="6372224" cy="4837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グラフ 10">
            <a:extLst>
              <a:ext uri="{FF2B5EF4-FFF2-40B4-BE49-F238E27FC236}">
                <a16:creationId xmlns:a16="http://schemas.microsoft.com/office/drawing/2014/main" id="{82185457-8794-2CE5-0271-011B6F50BB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1155400"/>
              </p:ext>
            </p:extLst>
          </p:nvPr>
        </p:nvGraphicFramePr>
        <p:xfrm>
          <a:off x="7391402" y="232370"/>
          <a:ext cx="4339590" cy="2758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グラフ 11">
            <a:extLst>
              <a:ext uri="{FF2B5EF4-FFF2-40B4-BE49-F238E27FC236}">
                <a16:creationId xmlns:a16="http://schemas.microsoft.com/office/drawing/2014/main" id="{E75EF9EF-552D-F807-EFF6-08A1A0A271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3627544"/>
              </p:ext>
            </p:extLst>
          </p:nvPr>
        </p:nvGraphicFramePr>
        <p:xfrm>
          <a:off x="7391402" y="3420746"/>
          <a:ext cx="4425317" cy="2849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楕円 15">
            <a:extLst>
              <a:ext uri="{FF2B5EF4-FFF2-40B4-BE49-F238E27FC236}">
                <a16:creationId xmlns:a16="http://schemas.microsoft.com/office/drawing/2014/main" id="{A6E8B0F9-229B-0F2F-6DFF-429FA750F48B}"/>
              </a:ext>
            </a:extLst>
          </p:cNvPr>
          <p:cNvSpPr/>
          <p:nvPr/>
        </p:nvSpPr>
        <p:spPr>
          <a:xfrm>
            <a:off x="7905750" y="1114425"/>
            <a:ext cx="1323976" cy="1514475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87539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137DD2-3221-5408-4E8E-F7B8D5A5E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7C8B042-E085-029F-4013-7E15648C0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BD5698-B3E2-1EFB-708F-AFE4FE3F3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2643" y="87551"/>
            <a:ext cx="9688296" cy="8289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V40</a:t>
            </a:r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退職理由分析</a:t>
            </a:r>
            <a:endParaRPr lang="ja-JP" altLang="en-US" sz="2800" kern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A756C8-49F7-441F-F802-E5B6379AB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CC1BACA5-FB1D-551E-86D0-4323CAD6B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BFA02D0-952A-D7E8-4E77-A586E1D6E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  <p:graphicFrame>
        <p:nvGraphicFramePr>
          <p:cNvPr id="13" name="グラフ 12">
            <a:extLst>
              <a:ext uri="{FF2B5EF4-FFF2-40B4-BE49-F238E27FC236}">
                <a16:creationId xmlns:a16="http://schemas.microsoft.com/office/drawing/2014/main" id="{6CC51F89-4778-A736-FD16-555C3A32A4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2701417"/>
              </p:ext>
            </p:extLst>
          </p:nvPr>
        </p:nvGraphicFramePr>
        <p:xfrm>
          <a:off x="6978015" y="378328"/>
          <a:ext cx="4842510" cy="3050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グラフ 13">
            <a:extLst>
              <a:ext uri="{FF2B5EF4-FFF2-40B4-BE49-F238E27FC236}">
                <a16:creationId xmlns:a16="http://schemas.microsoft.com/office/drawing/2014/main" id="{C2A45699-CD90-2EBF-8333-489F224895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8157924"/>
              </p:ext>
            </p:extLst>
          </p:nvPr>
        </p:nvGraphicFramePr>
        <p:xfrm>
          <a:off x="7029449" y="3613149"/>
          <a:ext cx="4791076" cy="29591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グラフ 14">
            <a:extLst>
              <a:ext uri="{FF2B5EF4-FFF2-40B4-BE49-F238E27FC236}">
                <a16:creationId xmlns:a16="http://schemas.microsoft.com/office/drawing/2014/main" id="{890EB7AD-A9EA-6965-2AC1-37A57A9ADF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953347"/>
              </p:ext>
            </p:extLst>
          </p:nvPr>
        </p:nvGraphicFramePr>
        <p:xfrm>
          <a:off x="171450" y="1250950"/>
          <a:ext cx="6267450" cy="4102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楕円 3">
            <a:extLst>
              <a:ext uri="{FF2B5EF4-FFF2-40B4-BE49-F238E27FC236}">
                <a16:creationId xmlns:a16="http://schemas.microsoft.com/office/drawing/2014/main" id="{704C0BC4-5CAF-7E89-EC04-9F9774EE4731}"/>
              </a:ext>
            </a:extLst>
          </p:cNvPr>
          <p:cNvSpPr/>
          <p:nvPr/>
        </p:nvSpPr>
        <p:spPr>
          <a:xfrm>
            <a:off x="1438275" y="3220869"/>
            <a:ext cx="619126" cy="789156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704C0BC4-5CAF-7E89-EC04-9F9774EE4731}"/>
              </a:ext>
            </a:extLst>
          </p:cNvPr>
          <p:cNvSpPr/>
          <p:nvPr/>
        </p:nvSpPr>
        <p:spPr>
          <a:xfrm>
            <a:off x="7985504" y="1186906"/>
            <a:ext cx="501271" cy="1332752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A8FD72D0-D797-69C7-2F1C-CAA942286832}"/>
              </a:ext>
            </a:extLst>
          </p:cNvPr>
          <p:cNvSpPr/>
          <p:nvPr/>
        </p:nvSpPr>
        <p:spPr>
          <a:xfrm>
            <a:off x="3096578" y="3254541"/>
            <a:ext cx="619126" cy="789156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5DCA2440-1DB8-03C9-5242-68E8543D83CE}"/>
              </a:ext>
            </a:extLst>
          </p:cNvPr>
          <p:cNvSpPr/>
          <p:nvPr/>
        </p:nvSpPr>
        <p:spPr>
          <a:xfrm>
            <a:off x="4711890" y="1964239"/>
            <a:ext cx="619126" cy="2096585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DF57C99F-6E12-FBBC-C456-6E832471CAF9}"/>
              </a:ext>
            </a:extLst>
          </p:cNvPr>
          <p:cNvSpPr/>
          <p:nvPr/>
        </p:nvSpPr>
        <p:spPr>
          <a:xfrm>
            <a:off x="9243628" y="1647824"/>
            <a:ext cx="501271" cy="935877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97DDC0F9-013D-74DE-A7D5-B8FA9E969F7D}"/>
              </a:ext>
            </a:extLst>
          </p:cNvPr>
          <p:cNvSpPr/>
          <p:nvPr/>
        </p:nvSpPr>
        <p:spPr>
          <a:xfrm>
            <a:off x="10478069" y="1647824"/>
            <a:ext cx="501271" cy="935877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BA5F4860-D7AD-ECED-0815-356A9178078C}"/>
              </a:ext>
            </a:extLst>
          </p:cNvPr>
          <p:cNvSpPr/>
          <p:nvPr/>
        </p:nvSpPr>
        <p:spPr>
          <a:xfrm>
            <a:off x="10478069" y="4376026"/>
            <a:ext cx="501271" cy="1262774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34AF0C50-B931-3E42-1266-B9EFB230AEB0}"/>
              </a:ext>
            </a:extLst>
          </p:cNvPr>
          <p:cNvSpPr/>
          <p:nvPr/>
        </p:nvSpPr>
        <p:spPr>
          <a:xfrm>
            <a:off x="8052178" y="5235459"/>
            <a:ext cx="501271" cy="456774"/>
          </a:xfrm>
          <a:prstGeom prst="ellipse">
            <a:avLst/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44688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BA3382-6DF3-7921-5028-3A34C54EE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05F4E0D-4BF7-41E8-B0D6-D164B5656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239EA3-5045-E35A-409D-288AF7AA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2643" y="87551"/>
            <a:ext cx="9688296" cy="8289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V40</a:t>
            </a:r>
            <a:r>
              <a:rPr lang="en-US" altLang="ja-JP" sz="2800" kern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退職理由分析</a:t>
            </a:r>
            <a:endParaRPr lang="ja-JP" altLang="en-US" sz="2800" kern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302290-82BB-88A5-9A68-55E1AFD95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293829C3-0224-9459-A438-CC1A06ACA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9ADED0D-DDCE-31A6-4B8D-9FF3F8ADA720}"/>
              </a:ext>
            </a:extLst>
          </p:cNvPr>
          <p:cNvSpPr txBox="1"/>
          <p:nvPr/>
        </p:nvSpPr>
        <p:spPr>
          <a:xfrm>
            <a:off x="714375" y="1330229"/>
            <a:ext cx="10205038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・新卒採用で職種を迷っている人材は、</a:t>
            </a:r>
            <a:r>
              <a:rPr kumimoji="1"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年以内離職の際に他業界に転職しがち</a:t>
            </a:r>
            <a:b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→　</a:t>
            </a:r>
            <a:r>
              <a:rPr kumimoji="1"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年以内の若年社員フォロー</a:t>
            </a:r>
            <a:b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ブラシス、</a:t>
            </a:r>
            <a:r>
              <a:rPr kumimoji="1"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1on1</a:t>
            </a:r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で悩みのキャッチで、まずは社会人</a:t>
            </a:r>
            <a:r>
              <a:rPr kumimoji="1"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年めを乗り越えさせる</a:t>
            </a:r>
          </a:p>
          <a:p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・若年層の年収アップ理由で転職するのは優秀層</a:t>
            </a:r>
          </a:p>
          <a:p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→　将来への期待感より目先の</a:t>
            </a:r>
            <a:r>
              <a:rPr kumimoji="1"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100</a:t>
            </a:r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万円</a:t>
            </a:r>
            <a:b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期待感あるなら育成枠ポジションで早期昇格</a:t>
            </a:r>
            <a:b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特に新卒は横並びを意識せずにスキップ昇格</a:t>
            </a:r>
            <a:b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・営業部解体の影響での転職</a:t>
            </a:r>
            <a:b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→　正しいメッセージの伝達・日常的な会議内容の下達</a:t>
            </a:r>
            <a:b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→　社内広報の統一で他部署の動きや会社の魅力を継続的に知らせる</a:t>
            </a:r>
          </a:p>
          <a:p>
            <a:endParaRPr kumimoji="1" lang="ja-JP" altLang="en-US" sz="2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・疾病退職</a:t>
            </a:r>
            <a:r>
              <a:rPr kumimoji="1"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11</a:t>
            </a:r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名の内、若年者の適応障害</a:t>
            </a:r>
            <a:r>
              <a:rPr kumimoji="1" lang="en-US" altLang="ja-JP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</a:t>
            </a:r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名</a:t>
            </a:r>
          </a:p>
          <a:p>
            <a:r>
              <a:rPr kumimoji="1" lang="ja-JP" altLang="en-US" sz="2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→　コミュニケーションスタイルの変化に配慮</a:t>
            </a:r>
          </a:p>
        </p:txBody>
      </p:sp>
    </p:spTree>
    <p:extLst>
      <p:ext uri="{BB962C8B-B14F-4D97-AF65-F5344CB8AC3E}">
        <p14:creationId xmlns:p14="http://schemas.microsoft.com/office/powerpoint/2010/main" val="3603557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テーマ">
  <a:themeElements>
    <a:clrScheme name="Office 2013 - 2022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11498</TotalTime>
  <Words>3030</Words>
  <Application>Microsoft Office PowerPoint</Application>
  <PresentationFormat>ワイド画面</PresentationFormat>
  <Paragraphs>323</Paragraphs>
  <Slides>33</Slides>
  <Notes>6</Notes>
  <HiddenSlides>15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33</vt:i4>
      </vt:variant>
    </vt:vector>
  </HeadingPairs>
  <TitlesOfParts>
    <vt:vector size="39" baseType="lpstr">
      <vt:lpstr>メイリオ</vt:lpstr>
      <vt:lpstr>游ゴシック</vt:lpstr>
      <vt:lpstr>Arial</vt:lpstr>
      <vt:lpstr>Calibri</vt:lpstr>
      <vt:lpstr>Calibri Light</vt:lpstr>
      <vt:lpstr>Office 2013 - 2022 テーマ</vt:lpstr>
      <vt:lpstr>R100達成に向けた 5か年ロードマップと41期事業計画</vt:lpstr>
      <vt:lpstr>R100達成の姿(1000億円の通過点として)</vt:lpstr>
      <vt:lpstr>課題 = 経営コントロールの本質的な違いを解決する</vt:lpstr>
      <vt:lpstr>5年で達成すべきこと（不足の経営インフラを整える）</vt:lpstr>
      <vt:lpstr>【R100へのVUC戦略のポイント】</vt:lpstr>
      <vt:lpstr>【R100へのVUC戦略のポイント】</vt:lpstr>
      <vt:lpstr>PowerPoint プレゼンテーション</vt:lpstr>
      <vt:lpstr>【 R100へのVUC戦略のポイント】</vt:lpstr>
      <vt:lpstr>【 R100へのVUC戦略のポイント】</vt:lpstr>
      <vt:lpstr>【経営インフラを整えるロードマップ①】</vt:lpstr>
      <vt:lpstr>【経営インフラを整えるロードマップ②】</vt:lpstr>
      <vt:lpstr>41期の重要施策</vt:lpstr>
      <vt:lpstr>41期 人事・組織開発</vt:lpstr>
      <vt:lpstr>41期 企業文化</vt:lpstr>
      <vt:lpstr>41期 法務・総務施策</vt:lpstr>
      <vt:lpstr>41期 財務施策</vt:lpstr>
      <vt:lpstr>41期 業務基盤の整備</vt:lpstr>
      <vt:lpstr>【 41期施策のロードマップ】</vt:lpstr>
      <vt:lpstr>R100達成の姿(1000億円の通過点として)</vt:lpstr>
      <vt:lpstr>【経営インフラを整えるロードマップ】</vt:lpstr>
      <vt:lpstr>【V40】人事戦略の振り返り</vt:lpstr>
      <vt:lpstr>【 R100へのVUC戦略のポイント】</vt:lpstr>
      <vt:lpstr>【 VUC組織改編】42期以降　人事組織をVUCから独立・増強 </vt:lpstr>
      <vt:lpstr>【人事機能のロードマップ】</vt:lpstr>
      <vt:lpstr>【コーポレート人事】</vt:lpstr>
      <vt:lpstr>【事業部担当人事（HRBP） 】</vt:lpstr>
      <vt:lpstr>PowerPoint プレゼンテーション</vt:lpstr>
      <vt:lpstr>【1-4】VUC組織改編</vt:lpstr>
      <vt:lpstr>【5-2】人員拡大のリスク対策</vt:lpstr>
      <vt:lpstr>41期 人事施策</vt:lpstr>
      <vt:lpstr>【V40】退職理由分析</vt:lpstr>
      <vt:lpstr>【V40】退職理由分析</vt:lpstr>
      <vt:lpstr>【V40】退職理由分析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米坂 安代</cp:lastModifiedBy>
  <cp:revision>112</cp:revision>
  <dcterms:created xsi:type="dcterms:W3CDTF">2013-01-27T09:14:16Z</dcterms:created>
  <dcterms:modified xsi:type="dcterms:W3CDTF">2025-09-17T08:17:26Z</dcterms:modified>
  <cp:category/>
</cp:coreProperties>
</file>